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63" r:id="rId3"/>
    <p:sldId id="257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59" r:id="rId27"/>
  </p:sldIdLst>
  <p:sldSz cx="12192000" cy="6858000"/>
  <p:notesSz cx="6858000" cy="9144000"/>
  <p:embeddedFontLst>
    <p:embeddedFont>
      <p:font typeface="Berlin Sans FB" panose="020E0602020502020306" pitchFamily="34" charset="0"/>
      <p:regular r:id="rId29"/>
      <p:bold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gObtSRP4Y3aSux5NQfV29+0LOS3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eter Shore" initials="" lastIdx="4" clrIdx="0"/>
  <p:cmAuthor id="1" name="Tony Wilhelm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1C29DD-730C-4B68-A9C5-63D1638B3E08}" v="2" dt="2026-07-18T11:31:37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90" d="100"/>
          <a:sy n="90" d="100"/>
        </p:scale>
        <p:origin x="38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4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(Tony) Wilhelm" userId="111808ec-cec1-4bb5-b99a-563afe69ab96" providerId="ADAL" clId="{72BD8168-86F3-43FC-B709-0507F7810D7D}"/>
    <pc:docChg chg="undo custSel addSld delSld modSld sldOrd delMainMaster">
      <pc:chgData name="Anthony (Tony) Wilhelm" userId="111808ec-cec1-4bb5-b99a-563afe69ab96" providerId="ADAL" clId="{72BD8168-86F3-43FC-B709-0507F7810D7D}" dt="2026-07-18T11:32:57.581" v="294" actId="1076"/>
      <pc:docMkLst>
        <pc:docMk/>
      </pc:docMkLst>
      <pc:sldChg chg="add ord setBg">
        <pc:chgData name="Anthony (Tony) Wilhelm" userId="111808ec-cec1-4bb5-b99a-563afe69ab96" providerId="ADAL" clId="{72BD8168-86F3-43FC-B709-0507F7810D7D}" dt="2026-07-18T11:31:10.675" v="283"/>
        <pc:sldMkLst>
          <pc:docMk/>
          <pc:sldMk cId="0" sldId="257"/>
        </pc:sldMkLst>
      </pc:sldChg>
      <pc:sldChg chg="addSp modSp add mod">
        <pc:chgData name="Anthony (Tony) Wilhelm" userId="111808ec-cec1-4bb5-b99a-563afe69ab96" providerId="ADAL" clId="{72BD8168-86F3-43FC-B709-0507F7810D7D}" dt="2026-07-18T11:32:57.581" v="294" actId="1076"/>
        <pc:sldMkLst>
          <pc:docMk/>
          <pc:sldMk cId="0" sldId="259"/>
        </pc:sldMkLst>
        <pc:picChg chg="add mod">
          <ac:chgData name="Anthony (Tony) Wilhelm" userId="111808ec-cec1-4bb5-b99a-563afe69ab96" providerId="ADAL" clId="{72BD8168-86F3-43FC-B709-0507F7810D7D}" dt="2026-07-18T11:32:57.581" v="294" actId="1076"/>
          <ac:picMkLst>
            <pc:docMk/>
            <pc:sldMk cId="0" sldId="259"/>
            <ac:picMk id="7" creationId="{5B0281E3-6F40-4217-C280-DECB9E35DFF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4" name="Google Shape;14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Just glance over </a:t>
            </a:r>
            <a:endParaRPr/>
          </a:p>
        </p:txBody>
      </p:sp>
      <p:sp>
        <p:nvSpPr>
          <p:cNvPr id="158" name="Google Shape;1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8" name="Google Shape;1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Chrissy used to work for NATO, </a:t>
            </a:r>
            <a:endParaRPr/>
          </a:p>
        </p:txBody>
      </p:sp>
      <p:sp>
        <p:nvSpPr>
          <p:cNvPr id="169" name="Google Shape;16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9" name="Google Shape;17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4" name="Google Shape;25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You can write and publish your own module.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6" name="Google Shape;2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7" name="Google Shape;27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12d64ab2ef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6" name="Google Shape;316;g212d64ab2ef_1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212d64ab2ef_1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12d64ab2ef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6" name="Google Shape;336;g212d64ab2ef_1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212d64ab2ef_1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12d64ab2ef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6" name="Google Shape;356;g212d64ab2ef_1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212d64ab2ef_1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6" name="Google Shape;36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7" name="Google Shape;37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7" name="Google Shape;37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4082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mailto:tonywsql@wilhelm-tech.com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github.com/TonyWSQL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s://v-roddba.blogspot.com/" TargetMode="Externa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jp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jp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baduck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etnerds.net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wershellgallery.com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TonyWSQL" TargetMode="External"/><Relationship Id="rId5" Type="http://schemas.openxmlformats.org/officeDocument/2006/relationships/hyperlink" Target="https://dbatools.io/" TargetMode="External"/><Relationship Id="rId4" Type="http://schemas.openxmlformats.org/officeDocument/2006/relationships/hyperlink" Target="https://learn.microsoft.com/en-us/powershell/scripting/learn/ps101/00-introduction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136396" y="457201"/>
            <a:ext cx="5814300" cy="25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5200" dirty="0"/>
              <a:t>Intro to PowerShell </a:t>
            </a:r>
            <a:br>
              <a:rPr lang="en-US" sz="5200" dirty="0"/>
            </a:br>
            <a:r>
              <a:rPr lang="en-US" sz="5200" dirty="0"/>
              <a:t>with dbatools </a:t>
            </a:r>
            <a:br>
              <a:rPr lang="en-US" sz="5200" dirty="0"/>
            </a:br>
            <a:r>
              <a:rPr lang="en-US" sz="5200" dirty="0"/>
              <a:t>for the DBA</a:t>
            </a:r>
            <a:endParaRPr sz="64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136396" y="4479636"/>
            <a:ext cx="5814300" cy="12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 b="1"/>
              <a:t>Anthony (Tony) Wilhelm</a:t>
            </a:r>
            <a:br>
              <a:rPr lang="en-US" sz="2600" b="1"/>
            </a:br>
            <a:r>
              <a:rPr lang="en-US" sz="2600"/>
              <a:t>Technology Leader, Senior Consultant</a:t>
            </a:r>
            <a:br>
              <a:rPr lang="en-US" sz="2600"/>
            </a:br>
            <a:r>
              <a:rPr lang="en-US" sz="2600"/>
              <a:t>Data &amp; Analytics</a:t>
            </a:r>
            <a:br>
              <a:rPr lang="en-US" sz="2600"/>
            </a:br>
            <a:r>
              <a:rPr lang="en-US" sz="2600"/>
              <a:t>Moser Consulting, Inc. </a:t>
            </a:r>
            <a:endParaRPr sz="2600"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8169" y="799365"/>
            <a:ext cx="2896062" cy="2210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 descr="dbatools (@psdbatools) / Twitt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0213" y="3375824"/>
            <a:ext cx="2243263" cy="2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  <a:gs pos="100000">
                <a:srgbClr val="000000"/>
              </a:gs>
            </a:gsLst>
            <a:lin ang="10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100000">
                <a:srgbClr val="2F5496"/>
              </a:gs>
            </a:gsLst>
            <a:lin ang="17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Tony Wilhelm</a:t>
            </a:r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body" idx="1"/>
          </p:nvPr>
        </p:nvSpPr>
        <p:spPr>
          <a:xfrm>
            <a:off x="473975" y="1885138"/>
            <a:ext cx="6272785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Started with Microsoft Access in the 90’s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Been using SQL server since 7.0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u="sng" dirty="0">
                <a:solidFill>
                  <a:schemeClr val="hlink"/>
                </a:solidFill>
                <a:latin typeface="+mj-lt"/>
                <a:ea typeface="Arial"/>
                <a:cs typeface="Arial"/>
                <a:sym typeface="Arial"/>
                <a:hlinkClick r:id="rId3"/>
              </a:rPr>
              <a:t>tonywsql@wilhelm-tech.com</a:t>
            </a:r>
            <a:endParaRPr sz="2600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     @tonywsql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      </a:t>
            </a: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  <a:hlinkClick r:id="rId4"/>
              </a:rPr>
              <a:t>https://v-roddba.blogspot.com/</a:t>
            </a:r>
            <a:endParaRPr lang="en-US" sz="2600" b="0" i="0" u="none" strike="noStrike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dirty="0">
                <a:latin typeface="+mj-lt"/>
              </a:rPr>
              <a:t>      </a:t>
            </a:r>
            <a:r>
              <a:rPr lang="en-US" sz="2600" dirty="0">
                <a:latin typeface="+mj-lt"/>
                <a:hlinkClick r:id="rId5"/>
              </a:rPr>
              <a:t>https://github.com/TonyWSQL</a:t>
            </a:r>
            <a:endParaRPr sz="2600" dirty="0">
              <a:latin typeface="+mj-lt"/>
            </a:endParaRPr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8253" y="1885138"/>
            <a:ext cx="3683400" cy="3683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26" name="Picture 2" descr="Twitter logo png, Twitter icon transparent free png 18930745 PNG">
            <a:extLst>
              <a:ext uri="{FF2B5EF4-FFF2-40B4-BE49-F238E27FC236}">
                <a16:creationId xmlns:a16="http://schemas.microsoft.com/office/drawing/2014/main" id="{77A8FF47-810A-F7F2-B2E9-AFB6E362A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5556" y="3658215"/>
            <a:ext cx="711723" cy="711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Logos and Usage · GitHub">
            <a:extLst>
              <a:ext uri="{FF2B5EF4-FFF2-40B4-BE49-F238E27FC236}">
                <a16:creationId xmlns:a16="http://schemas.microsoft.com/office/drawing/2014/main" id="{7C9BD6B7-44DA-5C3C-E60A-E46FD371F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75" y="4664733"/>
            <a:ext cx="619125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F886A15-8696-37A6-4205-45F2E8AB5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17" y="4266888"/>
            <a:ext cx="445984" cy="445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1BA57F-A3D9-C256-0007-A0C9EB4428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53146" y="4974295"/>
            <a:ext cx="1357619" cy="18085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28016"/>
            <a:ext cx="12191695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3200">
                <a:solidFill>
                  <a:srgbClr val="FFFFFF"/>
                </a:solidFill>
                <a:latin typeface="Berlin Sans FB"/>
              </a:rPr>
              <a:t>Day of Data Baton Rouge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91072"/>
            <a:ext cx="12191695" cy="612648"/>
          </a:xfrm>
          <a:prstGeom prst="rect">
            <a:avLst/>
          </a:prstGeom>
          <a:solidFill>
            <a:srgbClr val="F7C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6236208"/>
            <a:ext cx="12191695" cy="58521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3200">
                <a:solidFill>
                  <a:srgbClr val="013169"/>
                </a:solidFill>
                <a:latin typeface="Berlin Sans FB"/>
              </a:rPr>
              <a:t>Thank You, Sponsors!</a:t>
            </a:r>
          </a:p>
        </p:txBody>
      </p:sp>
      <p:pic>
        <p:nvPicPr>
          <p:cNvPr id="6" name="Picture 5" descr="sponsor1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635991"/>
            <a:ext cx="1705813" cy="339898"/>
          </a:xfrm>
          <a:prstGeom prst="rect">
            <a:avLst/>
          </a:prstGeom>
        </p:spPr>
      </p:pic>
      <p:pic>
        <p:nvPicPr>
          <p:cNvPr id="7" name="Picture 6" descr="sponso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037" y="1409338"/>
            <a:ext cx="1705813" cy="793203"/>
          </a:xfrm>
          <a:prstGeom prst="rect">
            <a:avLst/>
          </a:prstGeom>
        </p:spPr>
      </p:pic>
      <p:pic>
        <p:nvPicPr>
          <p:cNvPr id="8" name="Picture 7" descr="sponsor3_cr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0306" y="1441391"/>
            <a:ext cx="1705813" cy="729098"/>
          </a:xfrm>
          <a:prstGeom prst="rect">
            <a:avLst/>
          </a:prstGeom>
        </p:spPr>
      </p:pic>
      <p:pic>
        <p:nvPicPr>
          <p:cNvPr id="9" name="Picture 8" descr="sponsor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5576" y="1648152"/>
            <a:ext cx="1705813" cy="315575"/>
          </a:xfrm>
          <a:prstGeom prst="rect">
            <a:avLst/>
          </a:prstGeom>
        </p:spPr>
      </p:pic>
      <p:pic>
        <p:nvPicPr>
          <p:cNvPr id="10" name="Picture 9" descr="sponsor5_cropp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0845" y="1603375"/>
            <a:ext cx="1705813" cy="405131"/>
          </a:xfrm>
          <a:prstGeom prst="rect">
            <a:avLst/>
          </a:prstGeom>
        </p:spPr>
      </p:pic>
      <p:pic>
        <p:nvPicPr>
          <p:cNvPr id="11" name="Picture 10" descr="sponsor6_cropp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6114" y="1418686"/>
            <a:ext cx="1705813" cy="774509"/>
          </a:xfrm>
          <a:prstGeom prst="rect">
            <a:avLst/>
          </a:prstGeom>
        </p:spPr>
      </p:pic>
      <p:pic>
        <p:nvPicPr>
          <p:cNvPr id="12" name="Picture 11" descr="sponsor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" y="2613927"/>
            <a:ext cx="1705813" cy="852907"/>
          </a:xfrm>
          <a:prstGeom prst="rect">
            <a:avLst/>
          </a:prstGeom>
        </p:spPr>
      </p:pic>
      <p:pic>
        <p:nvPicPr>
          <p:cNvPr id="13" name="Picture 12" descr="sponsor8_cropp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22841" y="2532888"/>
            <a:ext cx="970205" cy="1014984"/>
          </a:xfrm>
          <a:prstGeom prst="rect">
            <a:avLst/>
          </a:prstGeom>
        </p:spPr>
      </p:pic>
      <p:pic>
        <p:nvPicPr>
          <p:cNvPr id="14" name="Picture 13" descr="sponsor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0306" y="2919907"/>
            <a:ext cx="1705813" cy="240946"/>
          </a:xfrm>
          <a:prstGeom prst="rect">
            <a:avLst/>
          </a:prstGeom>
        </p:spPr>
      </p:pic>
      <p:pic>
        <p:nvPicPr>
          <p:cNvPr id="15" name="Picture 14" descr="sponsor10_cropp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5576" y="2704735"/>
            <a:ext cx="1705813" cy="671290"/>
          </a:xfrm>
          <a:prstGeom prst="rect">
            <a:avLst/>
          </a:prstGeom>
        </p:spPr>
      </p:pic>
      <p:pic>
        <p:nvPicPr>
          <p:cNvPr id="16" name="Picture 15" descr="sponsor11_cropp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30845" y="2623884"/>
            <a:ext cx="1705813" cy="832991"/>
          </a:xfrm>
          <a:prstGeom prst="rect">
            <a:avLst/>
          </a:prstGeom>
        </p:spPr>
      </p:pic>
      <p:pic>
        <p:nvPicPr>
          <p:cNvPr id="17" name="Picture 16" descr="sponsor12_cropp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86636" y="2532888"/>
            <a:ext cx="844769" cy="1014984"/>
          </a:xfrm>
          <a:prstGeom prst="rect">
            <a:avLst/>
          </a:prstGeom>
        </p:spPr>
      </p:pic>
      <p:pic>
        <p:nvPicPr>
          <p:cNvPr id="18" name="Picture 17" descr="sponsor13_cropp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9768" y="4148429"/>
            <a:ext cx="1705813" cy="252782"/>
          </a:xfrm>
          <a:prstGeom prst="rect">
            <a:avLst/>
          </a:prstGeom>
        </p:spPr>
      </p:pic>
      <p:pic>
        <p:nvPicPr>
          <p:cNvPr id="19" name="Picture 18" descr="sponsor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82955" y="3767328"/>
            <a:ext cx="1449977" cy="1014984"/>
          </a:xfrm>
          <a:prstGeom prst="rect">
            <a:avLst/>
          </a:prstGeom>
        </p:spPr>
      </p:pic>
      <p:pic>
        <p:nvPicPr>
          <p:cNvPr id="20" name="Picture 19" descr="sponsor15_cropp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80306" y="4130846"/>
            <a:ext cx="1705813" cy="287947"/>
          </a:xfrm>
          <a:prstGeom prst="rect">
            <a:avLst/>
          </a:prstGeom>
        </p:spPr>
      </p:pic>
      <p:pic>
        <p:nvPicPr>
          <p:cNvPr id="21" name="Picture 20" descr="sponsor16_cropp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05576" y="4006854"/>
            <a:ext cx="1705813" cy="535932"/>
          </a:xfrm>
          <a:prstGeom prst="rect">
            <a:avLst/>
          </a:prstGeom>
        </p:spPr>
      </p:pic>
      <p:pic>
        <p:nvPicPr>
          <p:cNvPr id="22" name="Picture 21" descr="sponsor1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30845" y="4168207"/>
            <a:ext cx="1705813" cy="213227"/>
          </a:xfrm>
          <a:prstGeom prst="rect">
            <a:avLst/>
          </a:prstGeom>
        </p:spPr>
      </p:pic>
      <p:pic>
        <p:nvPicPr>
          <p:cNvPr id="23" name="Picture 22" descr="sponsor18_cropp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00793" y="3767328"/>
            <a:ext cx="1616456" cy="1014984"/>
          </a:xfrm>
          <a:prstGeom prst="rect">
            <a:avLst/>
          </a:prstGeom>
        </p:spPr>
      </p:pic>
      <p:pic>
        <p:nvPicPr>
          <p:cNvPr id="24" name="Picture 23" descr="sponsor19_cropp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9768" y="5170658"/>
            <a:ext cx="2090867" cy="677204"/>
          </a:xfrm>
          <a:prstGeom prst="rect">
            <a:avLst/>
          </a:prstGeom>
        </p:spPr>
      </p:pic>
      <p:pic>
        <p:nvPicPr>
          <p:cNvPr id="25" name="Picture 24" descr="sponsor20_cropp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990971" y="5001768"/>
            <a:ext cx="1589108" cy="1014984"/>
          </a:xfrm>
          <a:prstGeom prst="rect">
            <a:avLst/>
          </a:prstGeom>
        </p:spPr>
      </p:pic>
      <p:pic>
        <p:nvPicPr>
          <p:cNvPr id="26" name="Picture 25" descr="sponsor21_cropp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94415" y="5001768"/>
            <a:ext cx="1002865" cy="1014984"/>
          </a:xfrm>
          <a:prstGeom prst="rect">
            <a:avLst/>
          </a:prstGeom>
        </p:spPr>
      </p:pic>
      <p:pic>
        <p:nvPicPr>
          <p:cNvPr id="27" name="Picture 26" descr="sponsor22_cropp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52622" y="5001768"/>
            <a:ext cx="1507097" cy="1014984"/>
          </a:xfrm>
          <a:prstGeom prst="rect">
            <a:avLst/>
          </a:prstGeom>
        </p:spPr>
      </p:pic>
      <p:pic>
        <p:nvPicPr>
          <p:cNvPr id="28" name="Picture 27" descr="sponsor23_cropp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71060" y="5309157"/>
            <a:ext cx="2090867" cy="4002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/>
          <p:nvPr/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rgbClr val="2F5496"/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/>
          <p:nvPr/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40000">
                <a:srgbClr val="4472C4">
                  <a:alpha val="0"/>
                </a:srgbClr>
              </a:gs>
              <a:gs pos="100000">
                <a:srgbClr val="2F5496">
                  <a:alpha val="51764"/>
                </a:srgbClr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/>
          <p:nvPr/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17000">
                <a:srgbClr val="4472C4">
                  <a:alpha val="0"/>
                </a:srgbClr>
              </a:gs>
              <a:gs pos="100000">
                <a:srgbClr val="000000">
                  <a:alpha val="36862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rgbClr val="1F3864">
                  <a:alpha val="0"/>
                </a:srgbClr>
              </a:gs>
              <a:gs pos="100000">
                <a:srgbClr val="000000">
                  <a:alpha val="24705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 rot="-9091028">
            <a:off x="5945431" y="-1032053"/>
            <a:ext cx="4990147" cy="4439131"/>
          </a:xfrm>
          <a:custGeom>
            <a:avLst/>
            <a:gdLst/>
            <a:ahLst/>
            <a:cxnLst/>
            <a:rect l="l" t="t" r="r" b="b"/>
            <a:pathLst>
              <a:path w="4990147" h="4439131" extrusionOk="0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rgbClr val="4472C4">
                  <a:alpha val="21960"/>
                </a:srgbClr>
              </a:gs>
              <a:gs pos="87000">
                <a:srgbClr val="8DA9DB">
                  <a:alpha val="1960"/>
                </a:srgbClr>
              </a:gs>
              <a:gs pos="100000">
                <a:srgbClr val="8DA9DB">
                  <a:alpha val="196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lang="en-US" sz="4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48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Everyone has too much to do today, and you can never reuse a click” 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154" name="Google Shape;154;p2"/>
          <p:cNvSpPr txBox="1"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600" b="0" i="0" u="sng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Ben Miller</a:t>
            </a:r>
            <a:r>
              <a:rPr lang="en-US" sz="2600" b="0" i="0" u="none" strike="noStrike">
                <a:latin typeface="Roboto"/>
                <a:ea typeface="Roboto"/>
                <a:cs typeface="Roboto"/>
                <a:sym typeface="Roboto"/>
              </a:rPr>
              <a:t>, Microsoft Data Platform MVP and PowerShell Devotee</a:t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 flipH="1">
            <a:off x="0" y="0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History of Powershell</a:t>
            </a:r>
            <a:endParaRPr/>
          </a:p>
        </p:txBody>
      </p:sp>
      <p:sp>
        <p:nvSpPr>
          <p:cNvPr id="165" name="Google Shape;165;p3"/>
          <p:cNvSpPr txBox="1">
            <a:spLocks noGrp="1"/>
          </p:cNvSpPr>
          <p:nvPr>
            <p:ph type="body" idx="1"/>
          </p:nvPr>
        </p:nvSpPr>
        <p:spPr>
          <a:xfrm>
            <a:off x="459350" y="1933800"/>
            <a:ext cx="11263200" cy="49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PowerShell has been around since Nov 2006 (v1.0 Windows XP &amp; Server 2003) </a:t>
            </a:r>
            <a:endParaRPr sz="2600" dirty="0"/>
          </a:p>
          <a:p>
            <a:pPr marL="685800" lvl="1" indent="-3111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Started with 129 native cmdlets </a:t>
            </a:r>
            <a:endParaRPr sz="2600" dirty="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Built in .NET - you can reference .NET libraries</a:t>
            </a:r>
            <a:endParaRPr sz="2600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Current version 7.3 has over 1500 native cmdlets</a:t>
            </a:r>
            <a:endParaRPr sz="2600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SQL Server Management Objects (SMO) was built for SQL 2005</a:t>
            </a:r>
            <a:endParaRPr sz="2600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i="0" u="none" strike="noStrike" dirty="0"/>
              <a:t>SQLPS module with limited functionality, used with </a:t>
            </a:r>
            <a:r>
              <a:rPr lang="en-US" sz="2600" dirty="0"/>
              <a:t>SQL Agent</a:t>
            </a:r>
            <a:r>
              <a:rPr lang="en-US" sz="2600" i="0" u="none" strike="noStrike" dirty="0"/>
              <a:t> when you select PowerShell as the step type.</a:t>
            </a:r>
            <a:r>
              <a:rPr lang="en-US" sz="2600" dirty="0"/>
              <a:t> Included with the SQL Server installation</a:t>
            </a:r>
            <a:endParaRPr sz="2600" b="1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dirty="0"/>
              <a:t>SQLServer</a:t>
            </a:r>
            <a:r>
              <a:rPr lang="en-US" sz="2600" i="0" u="none" strike="noStrike" dirty="0"/>
              <a:t> module - This is </a:t>
            </a:r>
            <a:r>
              <a:rPr lang="en-US" sz="2600" dirty="0"/>
              <a:t>the currently maintained module</a:t>
            </a:r>
            <a:br>
              <a:rPr lang="en-US" sz="2600" dirty="0"/>
            </a:br>
            <a:r>
              <a:rPr lang="en-US" sz="2600" dirty="0"/>
              <a:t>Last updated (06/17/2025) 38M downloads</a:t>
            </a:r>
            <a:endParaRPr sz="26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</a:rPr>
              <a:t>History of dbatools</a:t>
            </a:r>
            <a:endParaRPr dirty="0"/>
          </a:p>
        </p:txBody>
      </p:sp>
      <p:sp>
        <p:nvSpPr>
          <p:cNvPr id="176" name="Google Shape;176;p4"/>
          <p:cNvSpPr txBox="1">
            <a:spLocks noGrp="1"/>
          </p:cNvSpPr>
          <p:nvPr>
            <p:ph type="body" idx="1"/>
          </p:nvPr>
        </p:nvSpPr>
        <p:spPr>
          <a:xfrm>
            <a:off x="459350" y="1854050"/>
            <a:ext cx="11153400" cy="47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 dirty="0"/>
              <a:t>Started out as a group of commands for migrating SQL instances in 2016 by </a:t>
            </a:r>
            <a:r>
              <a:rPr lang="en-US" sz="2600" u="sng" dirty="0">
                <a:solidFill>
                  <a:schemeClr val="hlink"/>
                </a:solidFill>
                <a:hlinkClick r:id="rId3"/>
              </a:rPr>
              <a:t>Chrissy LeMaire</a:t>
            </a:r>
            <a:r>
              <a:rPr lang="en-US" sz="2600" dirty="0"/>
              <a:t>, SQL &amp; PowerShell MVP</a:t>
            </a:r>
            <a:endParaRPr sz="2600" dirty="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0" lvl="0" indent="0">
              <a:spcBef>
                <a:spcPts val="600"/>
              </a:spcBef>
              <a:buSzPts val="2000"/>
              <a:buNone/>
            </a:pPr>
            <a:r>
              <a:rPr lang="en-US" sz="2600" dirty="0"/>
              <a:t>With the help of over 140 contributors, it has grown into a fully fledged module with over 700 commands that allow DBAs to automate and standardize their work. Latest version is 2.8.1 released on 04/21. Almost 9M </a:t>
            </a:r>
            <a:r>
              <a:rPr lang="en-US" sz="2600"/>
              <a:t>total downloads</a:t>
            </a:r>
            <a:endParaRPr lang="en-US" sz="2600" dirty="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600" dirty="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 dirty="0"/>
              <a:t>Is it Secure ?</a:t>
            </a: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0" dirty="0"/>
              <a:t>Open Source with limited permissions to merge to Master. 5 out of 6 are current/former Microsoft MVPs or employees.</a:t>
            </a: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0" dirty="0"/>
              <a:t>All the code is digitally signed</a:t>
            </a:r>
            <a:endParaRPr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 flipH="1">
            <a:off x="8115297" y="-1"/>
            <a:ext cx="4076700" cy="1590600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1999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59350" y="-1"/>
            <a:ext cx="11732700" cy="1597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7999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 flipH="1">
            <a:off x="0" y="0"/>
            <a:ext cx="12192000" cy="16002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Powershell Concepts</a:t>
            </a:r>
            <a:endParaRPr/>
          </a:p>
        </p:txBody>
      </p:sp>
      <p:grpSp>
        <p:nvGrpSpPr>
          <p:cNvPr id="189" name="Google Shape;189;p5"/>
          <p:cNvGrpSpPr/>
          <p:nvPr/>
        </p:nvGrpSpPr>
        <p:grpSpPr>
          <a:xfrm>
            <a:off x="647257" y="2558068"/>
            <a:ext cx="10921425" cy="3301825"/>
            <a:chOff x="3201" y="445489"/>
            <a:chExt cx="10921425" cy="3301825"/>
          </a:xfrm>
        </p:grpSpPr>
        <p:sp>
          <p:nvSpPr>
            <p:cNvPr id="190" name="Google Shape;190;p5"/>
            <p:cNvSpPr/>
            <p:nvPr/>
          </p:nvSpPr>
          <p:spPr>
            <a:xfrm>
              <a:off x="3201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3201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Commenting</a:t>
              </a: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2797054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5"/>
            <p:cNvSpPr txBox="1"/>
            <p:nvPr/>
          </p:nvSpPr>
          <p:spPr>
            <a:xfrm>
              <a:off x="2797054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Variables</a:t>
              </a: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5590907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5"/>
            <p:cNvSpPr txBox="1"/>
            <p:nvPr/>
          </p:nvSpPr>
          <p:spPr>
            <a:xfrm>
              <a:off x="5590907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Modules</a:t>
              </a:r>
              <a:endParaRPr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8384760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5"/>
            <p:cNvSpPr txBox="1"/>
            <p:nvPr/>
          </p:nvSpPr>
          <p:spPr>
            <a:xfrm>
              <a:off x="8384760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Parameters</a:t>
              </a: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3201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5"/>
            <p:cNvSpPr txBox="1"/>
            <p:nvPr/>
          </p:nvSpPr>
          <p:spPr>
            <a:xfrm>
              <a:off x="3201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Pipelines</a:t>
              </a:r>
              <a:endParaRPr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2797054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5"/>
            <p:cNvSpPr txBox="1"/>
            <p:nvPr/>
          </p:nvSpPr>
          <p:spPr>
            <a:xfrm>
              <a:off x="2797054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Limiting </a:t>
              </a:r>
              <a:r>
                <a:rPr lang="en-US" sz="3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</a:t>
              </a: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5590907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5"/>
            <p:cNvSpPr txBox="1"/>
            <p:nvPr/>
          </p:nvSpPr>
          <p:spPr>
            <a:xfrm>
              <a:off x="5590907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Formatting Output</a:t>
              </a: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8384760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5"/>
            <p:cNvSpPr txBox="1"/>
            <p:nvPr/>
          </p:nvSpPr>
          <p:spPr>
            <a:xfrm>
              <a:off x="8384760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Looping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11975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 flipH="1">
            <a:off x="0" y="-212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Commenting</a:t>
            </a:r>
            <a:endParaRPr/>
          </a:p>
        </p:txBody>
      </p:sp>
      <p:grpSp>
        <p:nvGrpSpPr>
          <p:cNvPr id="214" name="Google Shape;214;p8"/>
          <p:cNvGrpSpPr/>
          <p:nvPr/>
        </p:nvGrpSpPr>
        <p:grpSpPr>
          <a:xfrm>
            <a:off x="2192970" y="2408981"/>
            <a:ext cx="7830000" cy="3600000"/>
            <a:chOff x="1548914" y="296402"/>
            <a:chExt cx="7830000" cy="3600000"/>
          </a:xfrm>
        </p:grpSpPr>
        <p:sp>
          <p:nvSpPr>
            <p:cNvPr id="215" name="Google Shape;215;p8"/>
            <p:cNvSpPr/>
            <p:nvPr/>
          </p:nvSpPr>
          <p:spPr>
            <a:xfrm>
              <a:off x="2250914" y="296402"/>
              <a:ext cx="2196000" cy="219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2718914" y="764402"/>
              <a:ext cx="1260000" cy="126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154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8"/>
            <p:cNvSpPr txBox="1"/>
            <p:nvPr/>
          </p:nvSpPr>
          <p:spPr>
            <a:xfrm>
              <a:off x="154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None/>
              </a:pP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SINGLE LINE COMMENTS</a:t>
              </a:r>
              <a:endParaRPr/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6480914" y="296402"/>
              <a:ext cx="2196000" cy="219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6948914" y="764402"/>
              <a:ext cx="1260000" cy="126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577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8"/>
            <p:cNvSpPr txBox="1"/>
            <p:nvPr/>
          </p:nvSpPr>
          <p:spPr>
            <a:xfrm>
              <a:off x="577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None/>
              </a:pP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MULTI-LINE COMMENTS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 rot="10800000">
            <a:off x="0" y="0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1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 Commenting</a:t>
            </a:r>
            <a:endParaRPr/>
          </a:p>
        </p:txBody>
      </p:sp>
      <p:pic>
        <p:nvPicPr>
          <p:cNvPr id="231" name="Google Shape;231;p9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Comment Types: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Single Line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Multi-Line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Code Regions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</p:txBody>
      </p:sp>
      <p:sp>
        <p:nvSpPr>
          <p:cNvPr id="241" name="Google Shape;241;p10"/>
          <p:cNvSpPr txBox="1">
            <a:spLocks noGrp="1"/>
          </p:cNvSpPr>
          <p:nvPr>
            <p:ph type="body" idx="2"/>
          </p:nvPr>
        </p:nvSpPr>
        <p:spPr>
          <a:xfrm>
            <a:off x="1166297" y="2112579"/>
            <a:ext cx="4872919" cy="40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2598" lvl="0" indent="-21234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 start with a $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 are not case sensitive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contain numbers and letters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Variables have multiple scopes: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Global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Local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Script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Private (not really a scope)</a:t>
            </a:r>
            <a:endParaRPr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5156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2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Variables</a:t>
            </a:r>
            <a:endParaRPr/>
          </a:p>
        </p:txBody>
      </p:sp>
      <p:pic>
        <p:nvPicPr>
          <p:cNvPr id="250" name="Google Shape;250;p11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Variable Types: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Untyped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Typed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Custom Objects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Arrays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Hashtables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Modules</a:t>
            </a:r>
            <a:endParaRPr/>
          </a:p>
        </p:txBody>
      </p:sp>
      <p:sp>
        <p:nvSpPr>
          <p:cNvPr id="262" name="Google Shape;262;p6"/>
          <p:cNvSpPr txBox="1">
            <a:spLocks noGrp="1"/>
          </p:cNvSpPr>
          <p:nvPr>
            <p:ph type="body" idx="1"/>
          </p:nvPr>
        </p:nvSpPr>
        <p:spPr>
          <a:xfrm>
            <a:off x="459350" y="1834125"/>
            <a:ext cx="8900700" cy="47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66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Modules are a package that contain PowerShell objects like cmdlets, functions, and variables</a:t>
            </a:r>
            <a:endParaRPr sz="2600"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Best place to get modules is the PowerShell Gallery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Over </a:t>
            </a:r>
            <a:r>
              <a:rPr lang="en-US" sz="2600" strike="sngStrike" dirty="0"/>
              <a:t>269</a:t>
            </a:r>
            <a:r>
              <a:rPr lang="en-US" sz="2600" dirty="0"/>
              <a:t> </a:t>
            </a:r>
            <a:r>
              <a:rPr lang="en-US" sz="2600" strike="sngStrike" dirty="0"/>
              <a:t>537</a:t>
            </a:r>
            <a:r>
              <a:rPr lang="en-US" sz="2600" dirty="0"/>
              <a:t> </a:t>
            </a:r>
            <a:r>
              <a:rPr lang="en-US" sz="2600" strike="sngStrike" dirty="0"/>
              <a:t>610</a:t>
            </a:r>
            <a:r>
              <a:rPr lang="en-US" sz="2600" dirty="0"/>
              <a:t> 647 thousand total packages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Over </a:t>
            </a:r>
            <a:r>
              <a:rPr lang="en-US" sz="2600" strike="sngStrike" dirty="0"/>
              <a:t>11</a:t>
            </a:r>
            <a:r>
              <a:rPr lang="en-US" sz="2600" dirty="0"/>
              <a:t> </a:t>
            </a:r>
            <a:r>
              <a:rPr lang="en-US" sz="2600" strike="sngStrike" dirty="0"/>
              <a:t>12</a:t>
            </a:r>
            <a:r>
              <a:rPr lang="en-US" sz="2600" dirty="0"/>
              <a:t> </a:t>
            </a:r>
            <a:r>
              <a:rPr lang="en-US" sz="2600" strike="sngStrike" dirty="0"/>
              <a:t>14</a:t>
            </a:r>
            <a:r>
              <a:rPr lang="en-US" sz="2600" dirty="0"/>
              <a:t> 15 thousand unique packages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Over </a:t>
            </a:r>
            <a:r>
              <a:rPr lang="en-US" sz="2600" strike="sngStrike" dirty="0"/>
              <a:t>8</a:t>
            </a:r>
            <a:r>
              <a:rPr lang="en-US" sz="2600" dirty="0"/>
              <a:t> </a:t>
            </a:r>
            <a:r>
              <a:rPr lang="en-US" sz="2600" strike="sngStrike" dirty="0"/>
              <a:t>9</a:t>
            </a:r>
            <a:r>
              <a:rPr lang="en-US" sz="2600" dirty="0"/>
              <a:t> </a:t>
            </a:r>
            <a:r>
              <a:rPr lang="en-US" sz="2600" strike="sngStrike" dirty="0"/>
              <a:t>10</a:t>
            </a:r>
            <a:r>
              <a:rPr lang="en-US" sz="2600" dirty="0"/>
              <a:t> </a:t>
            </a:r>
            <a:r>
              <a:rPr lang="en-US" sz="2600" strike="sngStrike" dirty="0"/>
              <a:t>27</a:t>
            </a:r>
            <a:r>
              <a:rPr lang="en-US" sz="2600" dirty="0"/>
              <a:t> </a:t>
            </a:r>
            <a:r>
              <a:rPr lang="en-US" sz="2600" strike="sngStrike" dirty="0"/>
              <a:t>31</a:t>
            </a:r>
            <a:r>
              <a:rPr lang="en-US" sz="2600" dirty="0"/>
              <a:t> 34 billion packages downloaded</a:t>
            </a:r>
            <a:endParaRPr sz="2600"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Other Modules are available as components of windows</a:t>
            </a:r>
            <a:br>
              <a:rPr lang="en-US" sz="2600" dirty="0"/>
            </a:br>
            <a:r>
              <a:rPr lang="en-US" sz="2600" dirty="0"/>
              <a:t>ex: </a:t>
            </a:r>
            <a:r>
              <a:rPr lang="en-US" sz="2600" dirty="0" err="1"/>
              <a:t>ActiveDirectory</a:t>
            </a:r>
            <a:r>
              <a:rPr lang="en-US" sz="2600" dirty="0"/>
              <a:t> </a:t>
            </a:r>
            <a:endParaRPr sz="2600" dirty="0"/>
          </a:p>
        </p:txBody>
      </p:sp>
      <p:pic>
        <p:nvPicPr>
          <p:cNvPr id="263" name="Google Shape;26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17050" y="2058205"/>
            <a:ext cx="2400300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7063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3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– Modules</a:t>
            </a:r>
            <a:endParaRPr/>
          </a:p>
        </p:txBody>
      </p:sp>
      <p:pic>
        <p:nvPicPr>
          <p:cNvPr id="273" name="Google Shape;273;p7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713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7"/>
          <p:cNvSpPr txBox="1"/>
          <p:nvPr/>
        </p:nvSpPr>
        <p:spPr>
          <a:xfrm>
            <a:off x="5920825" y="1814175"/>
            <a:ext cx="4872900" cy="43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None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Commands: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Install-Module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204"/>
              <a:buFont typeface="Arial"/>
              <a:buChar char="•"/>
            </a:pPr>
            <a:r>
              <a:rPr lang="en-US" sz="22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Uninstall-Module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Import-Module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204"/>
              <a:buFont typeface="Arial"/>
              <a:buChar char="•"/>
            </a:pPr>
            <a:r>
              <a:rPr lang="en-US" sz="22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Get-Module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93954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2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Get-InstalledModule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Get-Command</a:t>
            </a:r>
            <a:endParaRPr sz="260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Get-Help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Parameters</a:t>
            </a:r>
            <a:endParaRPr/>
          </a:p>
        </p:txBody>
      </p:sp>
      <p:sp>
        <p:nvSpPr>
          <p:cNvPr id="284" name="Google Shape;284;p17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There are multiple ways to pass parameters to a cmdlet or function: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By name 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By position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Passing them at runtime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Splatting</a:t>
            </a: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Parameters can be Mandatory or Optional.</a:t>
            </a:r>
            <a:endParaRPr sz="2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4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4000">
                <a:solidFill>
                  <a:srgbClr val="FFFFFF"/>
                </a:solidFill>
              </a:rPr>
              <a:t>Parameters</a:t>
            </a:r>
            <a:endParaRPr/>
          </a:p>
        </p:txBody>
      </p:sp>
      <p:pic>
        <p:nvPicPr>
          <p:cNvPr id="293" name="Google Shape;293;p14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Common Parameters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WhatIf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Confirm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Verbose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Splatting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pipeline is a series of commands connected by the “|” symbol.</a:t>
            </a:r>
            <a:b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pipeline, the output of the first command is passed on to the second command.</a:t>
            </a:r>
            <a:b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but not all PowerShell and dbatools commands accept pipeline input</a:t>
            </a:r>
            <a:endParaRPr sz="2600" dirty="0"/>
          </a:p>
        </p:txBody>
      </p:sp>
      <p:sp>
        <p:nvSpPr>
          <p:cNvPr id="303" name="Google Shape;303;p12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5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Pipelining</a:t>
            </a:r>
            <a:endParaRPr/>
          </a:p>
        </p:txBody>
      </p:sp>
      <p:pic>
        <p:nvPicPr>
          <p:cNvPr id="312" name="Google Shape;312;p13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Pipeline examples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12d64ab2ef_1_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212d64ab2ef_1_4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212d64ab2ef_1_4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212d64ab2ef_1_45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Filtering Output</a:t>
            </a:r>
            <a:endParaRPr/>
          </a:p>
        </p:txBody>
      </p:sp>
      <p:sp>
        <p:nvSpPr>
          <p:cNvPr id="323" name="Google Shape;323;g212d64ab2ef_1_45"/>
          <p:cNvSpPr txBox="1">
            <a:spLocks noGrp="1"/>
          </p:cNvSpPr>
          <p:nvPr>
            <p:ph type="body" idx="1"/>
          </p:nvPr>
        </p:nvSpPr>
        <p:spPr>
          <a:xfrm>
            <a:off x="841248" y="1828800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Just like with T-SQL you can limit the output from a function.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You can limit the number of objects returned with the Where-Object function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You can limit the number of properties returned with the Select-Object</a:t>
            </a:r>
            <a:endParaRPr sz="2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- Filtering Output</a:t>
            </a:r>
            <a:endParaRPr/>
          </a:p>
        </p:txBody>
      </p:sp>
      <p:pic>
        <p:nvPicPr>
          <p:cNvPr id="332" name="Google Shape;332;p15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/>
              <a:t>Ways to filter output:</a:t>
            </a:r>
            <a:endParaRPr sz="2600"/>
          </a:p>
          <a:p>
            <a:pPr marL="457200" lvl="0" indent="-393700" algn="l" rtl="0">
              <a:spcBef>
                <a:spcPts val="100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Where-Object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Select-Object</a:t>
            </a:r>
            <a:endParaRPr sz="2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12d64ab2ef_1_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212d64ab2ef_1_3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212d64ab2ef_1_3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212d64ab2ef_1_34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Formatting Output</a:t>
            </a:r>
            <a:endParaRPr/>
          </a:p>
        </p:txBody>
      </p:sp>
      <p:sp>
        <p:nvSpPr>
          <p:cNvPr id="343" name="Google Shape;343;g212d64ab2ef_1_34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Multiple ways to format the output from a function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457200" lvl="0" indent="-393700" algn="l" rtl="0">
              <a:spcBef>
                <a:spcPts val="100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Format-List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Format-Table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Out-Gridview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Write-Out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Write-Verbose</a:t>
            </a:r>
            <a:endParaRPr sz="2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- Formatting Output</a:t>
            </a:r>
            <a:endParaRPr/>
          </a:p>
        </p:txBody>
      </p:sp>
      <p:pic>
        <p:nvPicPr>
          <p:cNvPr id="352" name="Google Shape;352;p16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Ways to format the object: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Sort-Object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Format-List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Format-Table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Out-Gridview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Write-Out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Write-Verbose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12d64ab2ef_1_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212d64ab2ef_1_2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212d64ab2ef_1_2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212d64ab2ef_1_23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Looping</a:t>
            </a:r>
            <a:endParaRPr/>
          </a:p>
        </p:txBody>
      </p:sp>
      <p:sp>
        <p:nvSpPr>
          <p:cNvPr id="363" name="Google Shape;363;g212d64ab2ef_1_23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Just like most programming languages, you can write loops in PowerShell.</a:t>
            </a: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There’s 4 basic types of loops 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 - for looping with a built-in counter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Foreach (x in y) - for looping through a collection or array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Do &amp; While - Repeats until a condition is true.</a:t>
            </a: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And </a:t>
            </a:r>
            <a:r>
              <a:rPr lang="en-US" sz="2000" dirty="0" err="1"/>
              <a:t>and</a:t>
            </a:r>
            <a:r>
              <a:rPr lang="en-US" sz="2000" dirty="0"/>
              <a:t> one that you can use with pipelines: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Foreach-Object</a:t>
            </a:r>
            <a:endParaRPr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7063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– </a:t>
            </a:r>
            <a:r>
              <a:rPr lang="en-US" sz="4000">
                <a:solidFill>
                  <a:srgbClr val="FFFFFF"/>
                </a:solidFill>
              </a:rPr>
              <a:t>Loops</a:t>
            </a:r>
            <a:endParaRPr/>
          </a:p>
        </p:txBody>
      </p:sp>
      <p:pic>
        <p:nvPicPr>
          <p:cNvPr id="373" name="Google Shape;373;p18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713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8"/>
          <p:cNvSpPr txBox="1"/>
          <p:nvPr/>
        </p:nvSpPr>
        <p:spPr>
          <a:xfrm>
            <a:off x="5920820" y="2112579"/>
            <a:ext cx="4872919" cy="4305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None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Looping methods</a:t>
            </a:r>
            <a:r>
              <a:rPr lang="en-US" sz="2604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Foreach (x in y)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Foreach-Object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Do/While or Do/Until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 Control:</a:t>
            </a:r>
          </a:p>
          <a:p>
            <a:pPr marL="457200" marR="0" lvl="0" indent="-4572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</a:p>
          <a:p>
            <a:pPr marL="457200" marR="0" lvl="0" indent="-4572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Continue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Resources</a:t>
            </a:r>
            <a:endParaRPr/>
          </a:p>
        </p:txBody>
      </p:sp>
      <p:sp>
        <p:nvSpPr>
          <p:cNvPr id="384" name="Google Shape;384;p19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u="sng" dirty="0" err="1">
                <a:latin typeface="Arial"/>
                <a:ea typeface="Arial"/>
                <a:cs typeface="Arial"/>
                <a:sym typeface="Arial"/>
              </a:rPr>
              <a:t>Powershell</a:t>
            </a:r>
            <a:r>
              <a:rPr lang="en-US" sz="2000" u="sng" dirty="0">
                <a:latin typeface="Arial"/>
                <a:ea typeface="Arial"/>
                <a:cs typeface="Arial"/>
                <a:sym typeface="Arial"/>
              </a:rPr>
              <a:t> Gallery</a:t>
            </a:r>
            <a:br>
              <a:rPr lang="en-US" sz="2000" u="sng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https://www.powershellgallery.com/</a:t>
            </a:r>
            <a:br>
              <a:rPr lang="en-US" sz="2000" u="sng" dirty="0">
                <a:latin typeface="Arial"/>
                <a:ea typeface="Arial"/>
                <a:cs typeface="Arial"/>
                <a:sym typeface="Arial"/>
              </a:rPr>
            </a:br>
            <a:endParaRPr sz="2000" u="sng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  <a:t>Microsoft </a:t>
            </a:r>
            <a:r>
              <a:rPr lang="en-US" sz="2000" b="0" i="0" u="sng" strike="noStrike" dirty="0" err="1">
                <a:latin typeface="Arial"/>
                <a:ea typeface="Arial"/>
                <a:cs typeface="Arial"/>
                <a:sym typeface="Arial"/>
              </a:rPr>
              <a:t>Powershell</a:t>
            </a:r>
            <a: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  <a:t> Documentation</a:t>
            </a:r>
            <a:b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sng" strike="noStrik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https://learn.microsoft.com/en-us/powershell/scripting/learn/ps101/00-introduction</a:t>
            </a:r>
            <a:b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</a:br>
            <a:endParaRPr sz="2000" b="0" i="0" u="sng" strike="noStrike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dbatools </a:t>
            </a:r>
            <a:br>
              <a:rPr lang="en-US" sz="20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https://dbatools.io/</a:t>
            </a:r>
            <a:endParaRPr lang="en-US" sz="2000" u="sng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endParaRPr lang="en-US" sz="2000" u="sng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>
              <a:spcBef>
                <a:spcPts val="0"/>
              </a:spcBef>
              <a:buSzPts val="2000"/>
            </a:pPr>
            <a:r>
              <a:rPr lang="en-US" sz="2000" dirty="0">
                <a:latin typeface="Arial"/>
                <a:cs typeface="Arial"/>
                <a:sym typeface="Arial"/>
              </a:rPr>
              <a:t>Slides and Demos</a:t>
            </a:r>
            <a:br>
              <a:rPr lang="en-US" sz="20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dirty="0">
                <a:hlinkClick r:id="rId6"/>
              </a:rPr>
              <a:t>https://github.com/TonyWSQL</a:t>
            </a:r>
            <a:endParaRPr lang="en-US" sz="2000" u="sng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</a:rPr>
              <a:t>Thank You</a:t>
            </a:r>
            <a:endParaRPr dirty="0"/>
          </a:p>
        </p:txBody>
      </p:sp>
      <p:sp>
        <p:nvSpPr>
          <p:cNvPr id="384" name="Google Shape;384;p19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Questions ?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0594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02920"/>
            <a:ext cx="1051560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13169"/>
                </a:solidFill>
                <a:latin typeface="Berlin Sans FB"/>
              </a:rPr>
              <a:t>Please complete your session evaluations</a:t>
            </a:r>
          </a:p>
        </p:txBody>
      </p:sp>
      <p:pic>
        <p:nvPicPr>
          <p:cNvPr id="3" name="Picture 2" descr="ev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284" y="1463040"/>
            <a:ext cx="3794760" cy="3794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040651" y="1463040"/>
            <a:ext cx="3794760" cy="3794760"/>
          </a:xfrm>
          <a:prstGeom prst="rect">
            <a:avLst/>
          </a:prstGeom>
          <a:solidFill>
            <a:srgbClr val="FFFFFF"/>
          </a:solidFill>
          <a:ln w="28575">
            <a:solidFill>
              <a:srgbClr val="0131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13169"/>
                </a:solidFill>
                <a:latin typeface="Calibri"/>
              </a:rPr>
              <a:t>QR CODE</a:t>
            </a:r>
          </a:p>
          <a:p>
            <a:pPr algn="ctr"/>
            <a:r>
              <a:rPr sz="1400" i="1">
                <a:solidFill>
                  <a:srgbClr val="013169"/>
                </a:solidFill>
                <a:latin typeface="Calibri"/>
              </a:rPr>
              <a:t>Paste your Sessionize evaluation QR code here</a:t>
            </a:r>
          </a:p>
        </p:txBody>
      </p:sp>
      <p:pic>
        <p:nvPicPr>
          <p:cNvPr id="5" name="Picture 4" descr="bru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324" y="5486400"/>
            <a:ext cx="1527048" cy="4431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0281E3-6F40-4217-C280-DECB9E35D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503" y="1407892"/>
            <a:ext cx="3905056" cy="39050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826</Words>
  <Application>Microsoft Office PowerPoint</Application>
  <PresentationFormat>Widescreen</PresentationFormat>
  <Paragraphs>184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Berlin Sans FB</vt:lpstr>
      <vt:lpstr>Roboto</vt:lpstr>
      <vt:lpstr>Arial</vt:lpstr>
      <vt:lpstr>Calibri</vt:lpstr>
      <vt:lpstr>Office Theme</vt:lpstr>
      <vt:lpstr>Intro to PowerShell  with dbatools  for the DBA</vt:lpstr>
      <vt:lpstr>Tony Wilhelm</vt:lpstr>
      <vt:lpstr>PowerPoint Presentation</vt:lpstr>
      <vt:lpstr>“Everyone has too much to do today, and you can never reuse a click” </vt:lpstr>
      <vt:lpstr>History of Powershell</vt:lpstr>
      <vt:lpstr>History of dbatools</vt:lpstr>
      <vt:lpstr>Powershell Concepts</vt:lpstr>
      <vt:lpstr>Commenting</vt:lpstr>
      <vt:lpstr>Demo 1 - Commenting</vt:lpstr>
      <vt:lpstr>Variables</vt:lpstr>
      <vt:lpstr>Demo 2 - Variables</vt:lpstr>
      <vt:lpstr>Modules</vt:lpstr>
      <vt:lpstr>Demo 3 – Modules</vt:lpstr>
      <vt:lpstr>Parameters</vt:lpstr>
      <vt:lpstr>Demo 4 - Parameters</vt:lpstr>
      <vt:lpstr>Pipeline</vt:lpstr>
      <vt:lpstr>Demo 5 - Pipelining</vt:lpstr>
      <vt:lpstr>Filtering Output</vt:lpstr>
      <vt:lpstr>Demo - Filtering Output</vt:lpstr>
      <vt:lpstr>Formatting Output</vt:lpstr>
      <vt:lpstr>Demo - Formatting Output</vt:lpstr>
      <vt:lpstr>Looping</vt:lpstr>
      <vt:lpstr>Demo – Loops</vt:lpstr>
      <vt:lpstr>Resources</vt:lpstr>
      <vt:lpstr>Thank You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PowerShell  with dbatools  for the DBA</dc:title>
  <dc:creator>Anthony (Tony) Wilhelm</dc:creator>
  <cp:lastModifiedBy>Anthony (Tony) Wilhelm</cp:lastModifiedBy>
  <cp:revision>6</cp:revision>
  <dcterms:created xsi:type="dcterms:W3CDTF">2023-03-24T20:07:07Z</dcterms:created>
  <dcterms:modified xsi:type="dcterms:W3CDTF">2026-07-18T11:33:05Z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0ee06db-1980-431f-9f40-cfc6bed7e768_Enabled">
    <vt:lpwstr>true</vt:lpwstr>
  </property>
  <property fmtid="{D5CDD505-2E9C-101B-9397-08002B2CF9AE}" pid="3" name="MSIP_Label_e0ee06db-1980-431f-9f40-cfc6bed7e768_SetDate">
    <vt:lpwstr>2023-03-24T20:07:29Z</vt:lpwstr>
  </property>
  <property fmtid="{D5CDD505-2E9C-101B-9397-08002B2CF9AE}" pid="4" name="MSIP_Label_e0ee06db-1980-431f-9f40-cfc6bed7e768_Method">
    <vt:lpwstr>Standard</vt:lpwstr>
  </property>
  <property fmtid="{D5CDD505-2E9C-101B-9397-08002B2CF9AE}" pid="5" name="MSIP_Label_e0ee06db-1980-431f-9f40-cfc6bed7e768_Name">
    <vt:lpwstr>Public</vt:lpwstr>
  </property>
  <property fmtid="{D5CDD505-2E9C-101B-9397-08002B2CF9AE}" pid="6" name="MSIP_Label_e0ee06db-1980-431f-9f40-cfc6bed7e768_SiteId">
    <vt:lpwstr>e75b8cf2-b242-41b0-8378-a3862dd6f0f4</vt:lpwstr>
  </property>
  <property fmtid="{D5CDD505-2E9C-101B-9397-08002B2CF9AE}" pid="7" name="MSIP_Label_e0ee06db-1980-431f-9f40-cfc6bed7e768_ActionId">
    <vt:lpwstr>bc49ab0c-0b9a-426e-95a6-77a04dcfa7bc</vt:lpwstr>
  </property>
  <property fmtid="{D5CDD505-2E9C-101B-9397-08002B2CF9AE}" pid="8" name="MSIP_Label_e0ee06db-1980-431f-9f40-cfc6bed7e768_ContentBits">
    <vt:lpwstr>0</vt:lpwstr>
  </property>
</Properties>
</file>