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63" r:id="rId3"/>
    <p:sldId id="286" r:id="rId4"/>
    <p:sldId id="264" r:id="rId5"/>
    <p:sldId id="265" r:id="rId6"/>
    <p:sldId id="266" r:id="rId7"/>
    <p:sldId id="267" r:id="rId8"/>
    <p:sldId id="268" r:id="rId9"/>
    <p:sldId id="269" r:id="rId10"/>
    <p:sldId id="270" r:id="rId11"/>
    <p:sldId id="271" r:id="rId12"/>
    <p:sldId id="272" r:id="rId13"/>
    <p:sldId id="273" r:id="rId14"/>
    <p:sldId id="274" r:id="rId15"/>
    <p:sldId id="275" r:id="rId16"/>
    <p:sldId id="276" r:id="rId17"/>
    <p:sldId id="277" r:id="rId18"/>
    <p:sldId id="278" r:id="rId19"/>
    <p:sldId id="279" r:id="rId20"/>
    <p:sldId id="280" r:id="rId21"/>
    <p:sldId id="281" r:id="rId22"/>
    <p:sldId id="282" r:id="rId23"/>
    <p:sldId id="283" r:id="rId24"/>
    <p:sldId id="284" r:id="rId25"/>
    <p:sldId id="285" r:id="rId26"/>
  </p:sldIdLst>
  <p:sldSz cx="12192000" cy="6858000"/>
  <p:notesSz cx="6858000" cy="9144000"/>
  <p:embeddedFontLst>
    <p:embeddedFont>
      <p:font typeface="Roboto" panose="02000000000000000000" pitchFamily="2" charset="0"/>
      <p:regular r:id="rId28"/>
      <p:bold r:id="rId29"/>
      <p:italic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9" roundtripDataSignature="AMtx7mgObtSRP4Y3aSux5NQfV29+0LOS3w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Peter Shore" initials="" lastIdx="4" clrIdx="0"/>
  <p:cmAuthor id="1" name="Tony Wilhelm" initials="" lastIdx="2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E5168B6-A35E-48CE-9B2B-341989878445}" v="1" dt="2026-08-04T18:11:49.14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customschemas.google.com/relationships/presentationmetadata" Target="metadata"/><Relationship Id="rId21" Type="http://schemas.openxmlformats.org/officeDocument/2006/relationships/slide" Target="slides/slide20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46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2.fntdata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40" Type="http://schemas.openxmlformats.org/officeDocument/2006/relationships/commentAuthors" Target="commentAuthors.xml"/><Relationship Id="rId45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4.fntdata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thony (Tony) Wilhelm" userId="111808ec-cec1-4bb5-b99a-563afe69ab96" providerId="ADAL" clId="{72BD8168-86F3-43FC-B709-0507F7810D7D}"/>
    <pc:docChg chg="undo custSel addSld delSld modSld sldOrd delMainMaster">
      <pc:chgData name="Anthony (Tony) Wilhelm" userId="111808ec-cec1-4bb5-b99a-563afe69ab96" providerId="ADAL" clId="{72BD8168-86F3-43FC-B709-0507F7810D7D}" dt="2026-08-04T18:11:51.231" v="304"/>
      <pc:docMkLst>
        <pc:docMk/>
      </pc:docMkLst>
      <pc:sldChg chg="modSp mod">
        <pc:chgData name="Anthony (Tony) Wilhelm" userId="111808ec-cec1-4bb5-b99a-563afe69ab96" providerId="ADAL" clId="{72BD8168-86F3-43FC-B709-0507F7810D7D}" dt="2026-08-04T17:45:29.957" v="285" actId="20577"/>
        <pc:sldMkLst>
          <pc:docMk/>
          <pc:sldMk cId="0" sldId="265"/>
        </pc:sldMkLst>
        <pc:spChg chg="mod">
          <ac:chgData name="Anthony (Tony) Wilhelm" userId="111808ec-cec1-4bb5-b99a-563afe69ab96" providerId="ADAL" clId="{72BD8168-86F3-43FC-B709-0507F7810D7D}" dt="2026-08-04T17:45:29.957" v="285" actId="20577"/>
          <ac:spMkLst>
            <pc:docMk/>
            <pc:sldMk cId="0" sldId="265"/>
            <ac:spMk id="165" creationId="{00000000-0000-0000-0000-000000000000}"/>
          </ac:spMkLst>
        </pc:spChg>
      </pc:sldChg>
      <pc:sldChg chg="modSp mod">
        <pc:chgData name="Anthony (Tony) Wilhelm" userId="111808ec-cec1-4bb5-b99a-563afe69ab96" providerId="ADAL" clId="{72BD8168-86F3-43FC-B709-0507F7810D7D}" dt="2026-08-04T17:46:14.626" v="299" actId="20577"/>
        <pc:sldMkLst>
          <pc:docMk/>
          <pc:sldMk cId="0" sldId="272"/>
        </pc:sldMkLst>
        <pc:spChg chg="mod">
          <ac:chgData name="Anthony (Tony) Wilhelm" userId="111808ec-cec1-4bb5-b99a-563afe69ab96" providerId="ADAL" clId="{72BD8168-86F3-43FC-B709-0507F7810D7D}" dt="2026-08-04T17:46:14.626" v="299" actId="20577"/>
          <ac:spMkLst>
            <pc:docMk/>
            <pc:sldMk cId="0" sldId="272"/>
            <ac:spMk id="262" creationId="{00000000-0000-0000-0000-000000000000}"/>
          </ac:spMkLst>
        </pc:spChg>
      </pc:sldChg>
      <pc:sldChg chg="modSp add mod ord">
        <pc:chgData name="Anthony (Tony) Wilhelm" userId="111808ec-cec1-4bb5-b99a-563afe69ab96" providerId="ADAL" clId="{72BD8168-86F3-43FC-B709-0507F7810D7D}" dt="2026-08-04T18:11:51.231" v="304"/>
        <pc:sldMkLst>
          <pc:docMk/>
          <pc:sldMk cId="983066425" sldId="286"/>
        </pc:sldMkLst>
        <pc:spChg chg="mod">
          <ac:chgData name="Anthony (Tony) Wilhelm" userId="111808ec-cec1-4bb5-b99a-563afe69ab96" providerId="ADAL" clId="{72BD8168-86F3-43FC-B709-0507F7810D7D}" dt="2026-08-04T18:11:49.198" v="301" actId="27636"/>
          <ac:spMkLst>
            <pc:docMk/>
            <pc:sldMk cId="983066425" sldId="286"/>
            <ac:spMk id="3" creationId="{C3966B70-7A83-6DE2-E532-A0D60B449064}"/>
          </ac:spMkLst>
        </pc:spChg>
        <pc:spChg chg="mod">
          <ac:chgData name="Anthony (Tony) Wilhelm" userId="111808ec-cec1-4bb5-b99a-563afe69ab96" providerId="ADAL" clId="{72BD8168-86F3-43FC-B709-0507F7810D7D}" dt="2026-08-04T18:11:49.201" v="302" actId="27636"/>
          <ac:spMkLst>
            <pc:docMk/>
            <pc:sldMk cId="983066425" sldId="286"/>
            <ac:spMk id="9" creationId="{02537F85-97FB-6D4D-6555-D97D0F8609EE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44" name="Google Shape;14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57" name="Google Shape;157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Just glance over </a:t>
            </a:r>
            <a:endParaRPr/>
          </a:p>
        </p:txBody>
      </p:sp>
      <p:sp>
        <p:nvSpPr>
          <p:cNvPr id="158" name="Google Shape;158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68" name="Google Shape;168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Chrissy used to work for NATO, </a:t>
            </a:r>
            <a:endParaRPr/>
          </a:p>
        </p:txBody>
      </p:sp>
      <p:sp>
        <p:nvSpPr>
          <p:cNvPr id="169" name="Google Shape;169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79" name="Google Shape;179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35" name="Google Shape;235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54" name="Google Shape;254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sz="1200"/>
              <a:t>You can write and publish your own module.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66" name="Google Shape;266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77" name="Google Shape;277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7" name="Google Shape;28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212d64ab2ef_1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16" name="Google Shape;316;g212d64ab2ef_1_4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" name="Google Shape;317;g212d64ab2ef_1_4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" name="Google Shape;326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212d64ab2ef_1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36" name="Google Shape;336;g212d64ab2ef_1_3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7" name="Google Shape;337;g212d64ab2ef_1_3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6" name="Google Shape;346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212d64ab2ef_1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56" name="Google Shape;356;g212d64ab2ef_1_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7" name="Google Shape;357;g212d64ab2ef_1_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66" name="Google Shape;366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7" name="Google Shape;367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77" name="Google Shape;377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8" name="Google Shape;378;p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77" name="Google Shape;377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8" name="Google Shape;378;p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040827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" name="Google Shape;35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6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6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2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0" name="Google Shape;50;p2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2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8" name="Google Shape;68;p3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3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3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hyperlink" Target="mailto:tonywsql@wilhelm-tech.com" TargetMode="External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hyperlink" Target="https://github.com/TonyWSQL" TargetMode="External"/><Relationship Id="rId10" Type="http://schemas.openxmlformats.org/officeDocument/2006/relationships/image" Target="../media/image7.png"/><Relationship Id="rId4" Type="http://schemas.openxmlformats.org/officeDocument/2006/relationships/hyperlink" Target="https://v-roddba.blogspot.com/" TargetMode="External"/><Relationship Id="rId9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baduck.com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blog.netnerds.net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owershellgallery.com/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TonyWSQL" TargetMode="External"/><Relationship Id="rId5" Type="http://schemas.openxmlformats.org/officeDocument/2006/relationships/hyperlink" Target="https://dbatools.io/" TargetMode="External"/><Relationship Id="rId4" Type="http://schemas.openxmlformats.org/officeDocument/2006/relationships/hyperlink" Target="https://learn.microsoft.com/en-us/powershell/scripting/learn/ps101/00-introduction" TargetMode="Externa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"/>
          <p:cNvSpPr txBox="1">
            <a:spLocks noGrp="1"/>
          </p:cNvSpPr>
          <p:nvPr>
            <p:ph type="ctrTitle"/>
          </p:nvPr>
        </p:nvSpPr>
        <p:spPr>
          <a:xfrm>
            <a:off x="1136396" y="457201"/>
            <a:ext cx="5814300" cy="25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</a:pPr>
            <a:r>
              <a:rPr lang="en-US" sz="5200" dirty="0"/>
              <a:t>Intro to PowerShell </a:t>
            </a:r>
            <a:br>
              <a:rPr lang="en-US" sz="5200" dirty="0"/>
            </a:br>
            <a:r>
              <a:rPr lang="en-US" sz="5200" dirty="0"/>
              <a:t>with dbatools </a:t>
            </a:r>
            <a:br>
              <a:rPr lang="en-US" sz="5200" dirty="0"/>
            </a:br>
            <a:r>
              <a:rPr lang="en-US" sz="5200" dirty="0"/>
              <a:t>for the DBA</a:t>
            </a:r>
            <a:endParaRPr sz="6400" dirty="0"/>
          </a:p>
        </p:txBody>
      </p:sp>
      <p:sp>
        <p:nvSpPr>
          <p:cNvPr id="91" name="Google Shape;91;p1"/>
          <p:cNvSpPr txBox="1">
            <a:spLocks noGrp="1"/>
          </p:cNvSpPr>
          <p:nvPr>
            <p:ph type="subTitle" idx="1"/>
          </p:nvPr>
        </p:nvSpPr>
        <p:spPr>
          <a:xfrm>
            <a:off x="1136396" y="4479636"/>
            <a:ext cx="5814300" cy="12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600" b="1"/>
              <a:t>Anthony (Tony) Wilhelm</a:t>
            </a:r>
            <a:br>
              <a:rPr lang="en-US" sz="2600" b="1"/>
            </a:br>
            <a:r>
              <a:rPr lang="en-US" sz="2600"/>
              <a:t>Technology Leader, Senior Consultant</a:t>
            </a:r>
            <a:br>
              <a:rPr lang="en-US" sz="2600"/>
            </a:br>
            <a:r>
              <a:rPr lang="en-US" sz="2600"/>
              <a:t>Data &amp; Analytics</a:t>
            </a:r>
            <a:br>
              <a:rPr lang="en-US" sz="2600"/>
            </a:br>
            <a:r>
              <a:rPr lang="en-US" sz="2600"/>
              <a:t>Moser Consulting, Inc. </a:t>
            </a:r>
            <a:endParaRPr sz="2600"/>
          </a:p>
        </p:txBody>
      </p:sp>
      <p:pic>
        <p:nvPicPr>
          <p:cNvPr id="92" name="Google Shape;92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88169" y="799365"/>
            <a:ext cx="2896062" cy="2210153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" descr="dbatools (@psdbatools) / Twitte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400213" y="3375824"/>
            <a:ext cx="2243263" cy="2243263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"/>
          <p:cNvSpPr/>
          <p:nvPr/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66000">
                <a:srgbClr val="000000"/>
              </a:gs>
              <a:gs pos="100000">
                <a:srgbClr val="000000"/>
              </a:gs>
            </a:gsLst>
            <a:lin ang="10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/>
          <p:nvPr/>
        </p:nvSpPr>
        <p:spPr>
          <a:xfrm flipH="1">
            <a:off x="1" y="6400800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2745"/>
                </a:srgbClr>
              </a:gs>
              <a:gs pos="100000">
                <a:srgbClr val="2F5496"/>
              </a:gs>
            </a:gsLst>
            <a:lin ang="17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0"/>
          <p:cNvSpPr/>
          <p:nvPr/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>
                  <a:alpha val="95686"/>
                </a:srgbClr>
              </a:gs>
              <a:gs pos="100000">
                <a:srgbClr val="2F5496"/>
              </a:gs>
            </a:gsLst>
            <a:lin ang="839841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20"/>
          <p:cNvSpPr/>
          <p:nvPr/>
        </p:nvSpPr>
        <p:spPr>
          <a:xfrm rot="10800000" flipH="1">
            <a:off x="-3" y="142"/>
            <a:ext cx="8115300" cy="1590600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0000">
                <a:srgbClr val="4472C4">
                  <a:alpha val="0"/>
                </a:srgbClr>
              </a:gs>
              <a:gs pos="100000">
                <a:srgbClr val="1F3864">
                  <a:alpha val="54901"/>
                </a:srgbClr>
              </a:gs>
            </a:gsLst>
            <a:lin ang="1380014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20"/>
          <p:cNvSpPr txBox="1"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>
                <a:solidFill>
                  <a:srgbClr val="FFFFFF"/>
                </a:solidFill>
              </a:rPr>
              <a:t>Tony Wilhelm</a:t>
            </a:r>
            <a:endParaRPr/>
          </a:p>
        </p:txBody>
      </p:sp>
      <p:sp>
        <p:nvSpPr>
          <p:cNvPr id="140" name="Google Shape;140;p20"/>
          <p:cNvSpPr txBox="1">
            <a:spLocks noGrp="1"/>
          </p:cNvSpPr>
          <p:nvPr>
            <p:ph type="body" idx="1"/>
          </p:nvPr>
        </p:nvSpPr>
        <p:spPr>
          <a:xfrm>
            <a:off x="473975" y="1885138"/>
            <a:ext cx="6272785" cy="368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600" b="0" i="0" u="none" strike="noStrike" dirty="0">
                <a:latin typeface="+mj-lt"/>
                <a:ea typeface="Arial"/>
                <a:cs typeface="Arial"/>
                <a:sym typeface="Arial"/>
              </a:rPr>
              <a:t>Started with Microsoft Access in the 90’s</a:t>
            </a:r>
            <a:endParaRPr sz="2600" dirty="0">
              <a:latin typeface="+mj-lt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600" b="0" i="0" u="none" strike="noStrike" dirty="0">
                <a:latin typeface="+mj-lt"/>
                <a:ea typeface="Arial"/>
                <a:cs typeface="Arial"/>
                <a:sym typeface="Arial"/>
              </a:rPr>
              <a:t>Been using SQL server since 7.0</a:t>
            </a:r>
            <a:endParaRPr sz="2600" dirty="0">
              <a:latin typeface="+mj-lt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600" u="sng" dirty="0">
                <a:solidFill>
                  <a:schemeClr val="hlink"/>
                </a:solidFill>
                <a:latin typeface="+mj-lt"/>
                <a:ea typeface="Arial"/>
                <a:cs typeface="Arial"/>
                <a:sym typeface="Arial"/>
                <a:hlinkClick r:id="rId3"/>
              </a:rPr>
              <a:t>tonywsql@wilhelm-tech.com</a:t>
            </a:r>
            <a:endParaRPr sz="2600" dirty="0">
              <a:latin typeface="+mj-lt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600" b="0" i="0" u="none" strike="noStrike" dirty="0">
                <a:latin typeface="+mj-lt"/>
                <a:ea typeface="Arial"/>
                <a:cs typeface="Arial"/>
                <a:sym typeface="Arial"/>
              </a:rPr>
              <a:t>     @tonywsql</a:t>
            </a:r>
            <a:endParaRPr sz="2600" dirty="0">
              <a:latin typeface="+mj-lt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600" b="0" i="0" u="none" strike="noStrike" dirty="0">
                <a:latin typeface="+mj-lt"/>
                <a:ea typeface="Arial"/>
                <a:cs typeface="Arial"/>
                <a:sym typeface="Arial"/>
              </a:rPr>
              <a:t>      </a:t>
            </a:r>
            <a:r>
              <a:rPr lang="en-US" sz="2600" b="0" i="0" u="none" strike="noStrike" dirty="0">
                <a:latin typeface="+mj-lt"/>
                <a:ea typeface="Arial"/>
                <a:cs typeface="Arial"/>
                <a:sym typeface="Arial"/>
                <a:hlinkClick r:id="rId4"/>
              </a:rPr>
              <a:t>https://v-roddba.blogspot.com/</a:t>
            </a:r>
            <a:endParaRPr lang="en-US" sz="2600" b="0" i="0" u="none" strike="noStrike" dirty="0">
              <a:latin typeface="+mj-lt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600" dirty="0">
                <a:latin typeface="+mj-lt"/>
              </a:rPr>
              <a:t>      </a:t>
            </a:r>
            <a:r>
              <a:rPr lang="en-US" sz="2600" dirty="0">
                <a:latin typeface="+mj-lt"/>
                <a:hlinkClick r:id="rId5"/>
              </a:rPr>
              <a:t>https://github.com/TonyWSQL</a:t>
            </a:r>
            <a:endParaRPr sz="2600" dirty="0">
              <a:latin typeface="+mj-lt"/>
            </a:endParaRPr>
          </a:p>
        </p:txBody>
      </p:sp>
      <p:pic>
        <p:nvPicPr>
          <p:cNvPr id="141" name="Google Shape;141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858253" y="1885138"/>
            <a:ext cx="3683400" cy="36834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026" name="Picture 2" descr="Twitter logo png, Twitter icon transparent free png 18930745 PNG">
            <a:extLst>
              <a:ext uri="{FF2B5EF4-FFF2-40B4-BE49-F238E27FC236}">
                <a16:creationId xmlns:a16="http://schemas.microsoft.com/office/drawing/2014/main" id="{77A8FF47-810A-F7F2-B2E9-AFB6E362A2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405556" y="3658215"/>
            <a:ext cx="711723" cy="7117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GitHub Logos and Usage · GitHub">
            <a:extLst>
              <a:ext uri="{FF2B5EF4-FFF2-40B4-BE49-F238E27FC236}">
                <a16:creationId xmlns:a16="http://schemas.microsoft.com/office/drawing/2014/main" id="{7C9BD6B7-44DA-5C3C-E60A-E46FD371FB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975" y="4664733"/>
            <a:ext cx="619125" cy="619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BF886A15-8696-37A6-4205-45F2E8AB56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917" y="4266888"/>
            <a:ext cx="445984" cy="4459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31BA57F-A3D9-C256-0007-A0C9EB44280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653146" y="4974295"/>
            <a:ext cx="1357619" cy="18085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FCDF4-EC4C-51E0-3320-FB1F762636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17107"/>
            <a:ext cx="9144000" cy="880173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Thank You to Our Sponsors!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966B70-7A83-6DE2-E532-A0D60B4490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98904" y="1097280"/>
            <a:ext cx="2072479" cy="384048"/>
          </a:xfrm>
        </p:spPr>
        <p:txBody>
          <a:bodyPr>
            <a:normAutofit fontScale="62500" lnSpcReduction="20000"/>
          </a:bodyPr>
          <a:lstStyle/>
          <a:p>
            <a:r>
              <a:rPr lang="en-US" i="1" dirty="0"/>
              <a:t>Global Sponsors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D870AD6-AC82-E672-CFB2-A9C509EC47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05" y="1430894"/>
            <a:ext cx="4978668" cy="1236961"/>
          </a:xfrm>
          <a:prstGeom prst="rect">
            <a:avLst/>
          </a:prstGeom>
        </p:spPr>
      </p:pic>
      <p:sp>
        <p:nvSpPr>
          <p:cNvPr id="6" name="Subtitle 2">
            <a:extLst>
              <a:ext uri="{FF2B5EF4-FFF2-40B4-BE49-F238E27FC236}">
                <a16:creationId xmlns:a16="http://schemas.microsoft.com/office/drawing/2014/main" id="{92F22B1D-76D3-0AF5-0502-DCDC651A0325}"/>
              </a:ext>
            </a:extLst>
          </p:cNvPr>
          <p:cNvSpPr txBox="1">
            <a:spLocks/>
          </p:cNvSpPr>
          <p:nvPr/>
        </p:nvSpPr>
        <p:spPr>
          <a:xfrm>
            <a:off x="7203260" y="1593115"/>
            <a:ext cx="2651600" cy="38404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i="1" dirty="0"/>
              <a:t>Platinum Sponsor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7A5BAB1-0664-F7D8-5DAB-C558847A42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213070"/>
            <a:ext cx="4772025" cy="1209675"/>
          </a:xfrm>
          <a:prstGeom prst="rect">
            <a:avLst/>
          </a:prstGeom>
        </p:spPr>
      </p:pic>
      <p:sp>
        <p:nvSpPr>
          <p:cNvPr id="9" name="Subtitle 2">
            <a:extLst>
              <a:ext uri="{FF2B5EF4-FFF2-40B4-BE49-F238E27FC236}">
                <a16:creationId xmlns:a16="http://schemas.microsoft.com/office/drawing/2014/main" id="{02537F85-97FB-6D4D-6555-D97D0F8609EE}"/>
              </a:ext>
            </a:extLst>
          </p:cNvPr>
          <p:cNvSpPr txBox="1">
            <a:spLocks/>
          </p:cNvSpPr>
          <p:nvPr/>
        </p:nvSpPr>
        <p:spPr>
          <a:xfrm>
            <a:off x="1817981" y="4308098"/>
            <a:ext cx="2072479" cy="384048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i="1" dirty="0"/>
              <a:t>Silver Sponsors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C0783BE1-0079-C790-8548-1118AE97DEC8}"/>
              </a:ext>
            </a:extLst>
          </p:cNvPr>
          <p:cNvSpPr txBox="1">
            <a:spLocks/>
          </p:cNvSpPr>
          <p:nvPr/>
        </p:nvSpPr>
        <p:spPr>
          <a:xfrm>
            <a:off x="7690498" y="4308098"/>
            <a:ext cx="2072479" cy="384048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i="1" dirty="0"/>
              <a:t>Bronze Sponsor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55B76FE-FAF9-B10E-CF0F-866D504C0E2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410" y="5261103"/>
            <a:ext cx="2857500" cy="75247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9663F18-5D1E-A92A-4BD2-38CF6D80516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3414" y="4538536"/>
            <a:ext cx="2197608" cy="219760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C53A00E-EA93-EACD-3083-D2BD3ED89BB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3260" y="4850775"/>
            <a:ext cx="3146259" cy="157313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6CA1CA31-7662-2DBE-0298-C82DFA362E6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7981" y="2667855"/>
            <a:ext cx="1947019" cy="1406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30664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2"/>
          <p:cNvSpPr/>
          <p:nvPr/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rgbClr val="2F5496"/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2"/>
          <p:cNvSpPr/>
          <p:nvPr/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40000">
                <a:srgbClr val="4472C4">
                  <a:alpha val="0"/>
                </a:srgbClr>
              </a:gs>
              <a:gs pos="100000">
                <a:srgbClr val="2F5496">
                  <a:alpha val="51764"/>
                </a:srgbClr>
              </a:gs>
            </a:gsLst>
            <a:lin ang="2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2"/>
          <p:cNvSpPr/>
          <p:nvPr/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17000">
                <a:srgbClr val="4472C4">
                  <a:alpha val="0"/>
                </a:srgbClr>
              </a:gs>
              <a:gs pos="100000">
                <a:srgbClr val="000000">
                  <a:alpha val="36862"/>
                </a:srgbClr>
              </a:gs>
            </a:gsLst>
            <a:lin ang="7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2"/>
          <p:cNvSpPr/>
          <p:nvPr/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rgbClr val="1F3864">
                  <a:alpha val="0"/>
                </a:srgbClr>
              </a:gs>
              <a:gs pos="100000">
                <a:srgbClr val="000000">
                  <a:alpha val="24705"/>
                </a:srgbClr>
              </a:gs>
            </a:gsLst>
            <a:lin ang="186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2"/>
          <p:cNvSpPr/>
          <p:nvPr/>
        </p:nvSpPr>
        <p:spPr>
          <a:xfrm rot="-9091028">
            <a:off x="5945431" y="-1032053"/>
            <a:ext cx="4990147" cy="4439131"/>
          </a:xfrm>
          <a:custGeom>
            <a:avLst/>
            <a:gdLst/>
            <a:ahLst/>
            <a:cxnLst/>
            <a:rect l="l" t="t" r="r" b="b"/>
            <a:pathLst>
              <a:path w="4990147" h="4439131" extrusionOk="0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rgbClr val="4472C4">
                  <a:alpha val="21960"/>
                </a:srgbClr>
              </a:gs>
              <a:gs pos="87000">
                <a:srgbClr val="8DA9DB">
                  <a:alpha val="1960"/>
                </a:srgbClr>
              </a:gs>
              <a:gs pos="100000">
                <a:srgbClr val="8DA9DB">
                  <a:alpha val="1960"/>
                </a:srgbClr>
              </a:gs>
            </a:gsLst>
            <a:lin ang="8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2"/>
          <p:cNvSpPr txBox="1"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Arial"/>
              <a:buNone/>
            </a:pPr>
            <a:r>
              <a:rPr lang="en-US" sz="4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US" sz="4800" b="0" i="0" u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Everyone has too much to do today, and you can never reuse a click” </a:t>
            </a:r>
            <a:endParaRPr sz="4800">
              <a:solidFill>
                <a:srgbClr val="FFFFFF"/>
              </a:solidFill>
            </a:endParaRPr>
          </a:p>
        </p:txBody>
      </p:sp>
      <p:sp>
        <p:nvSpPr>
          <p:cNvPr id="154" name="Google Shape;154;p2"/>
          <p:cNvSpPr txBox="1"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600" b="0" i="0" u="sng" strike="noStrike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Ben Miller</a:t>
            </a:r>
            <a:r>
              <a:rPr lang="en-US" sz="2600" b="0" i="0" u="none" strike="noStrike">
                <a:latin typeface="Roboto"/>
                <a:ea typeface="Roboto"/>
                <a:cs typeface="Roboto"/>
                <a:sym typeface="Roboto"/>
              </a:rPr>
              <a:t>, Microsoft Data Platform MVP and PowerShell Devotee</a:t>
            </a:r>
            <a:endParaRPr sz="26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3"/>
          <p:cNvSpPr/>
          <p:nvPr/>
        </p:nvSpPr>
        <p:spPr>
          <a:xfrm flipH="1">
            <a:off x="-3" y="-1"/>
            <a:ext cx="12192000" cy="1590600"/>
          </a:xfrm>
          <a:prstGeom prst="rect">
            <a:avLst/>
          </a:prstGeom>
          <a:gradFill>
            <a:gsLst>
              <a:gs pos="0">
                <a:srgbClr val="000000">
                  <a:alpha val="95686"/>
                </a:srgbClr>
              </a:gs>
              <a:gs pos="100000">
                <a:srgbClr val="2F5496"/>
              </a:gs>
            </a:gsLst>
            <a:lin ang="839841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3"/>
          <p:cNvSpPr/>
          <p:nvPr/>
        </p:nvSpPr>
        <p:spPr>
          <a:xfrm flipH="1">
            <a:off x="0" y="0"/>
            <a:ext cx="12192000" cy="1575900"/>
          </a:xfrm>
          <a:prstGeom prst="rect">
            <a:avLst/>
          </a:prstGeom>
          <a:gradFill>
            <a:gsLst>
              <a:gs pos="0">
                <a:srgbClr val="000000">
                  <a:alpha val="95686"/>
                </a:srgbClr>
              </a:gs>
              <a:gs pos="100000">
                <a:srgbClr val="2F5496"/>
              </a:gs>
            </a:gsLst>
            <a:lin ang="8400134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3"/>
          <p:cNvSpPr/>
          <p:nvPr/>
        </p:nvSpPr>
        <p:spPr>
          <a:xfrm rot="10800000" flipH="1">
            <a:off x="-3" y="142"/>
            <a:ext cx="8115300" cy="1590600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0000">
                <a:srgbClr val="4472C4">
                  <a:alpha val="0"/>
                </a:srgbClr>
              </a:gs>
              <a:gs pos="100000">
                <a:srgbClr val="1F3864">
                  <a:alpha val="54901"/>
                </a:srgbClr>
              </a:gs>
            </a:gsLst>
            <a:lin ang="1380014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3"/>
          <p:cNvSpPr txBox="1">
            <a:spLocks noGrp="1"/>
          </p:cNvSpPr>
          <p:nvPr>
            <p:ph type="title"/>
          </p:nvPr>
        </p:nvSpPr>
        <p:spPr>
          <a:xfrm>
            <a:off x="1371599" y="294538"/>
            <a:ext cx="9896100" cy="103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>
                <a:solidFill>
                  <a:srgbClr val="FFFFFF"/>
                </a:solidFill>
              </a:rPr>
              <a:t>History of Powershell</a:t>
            </a:r>
            <a:endParaRPr/>
          </a:p>
        </p:txBody>
      </p:sp>
      <p:sp>
        <p:nvSpPr>
          <p:cNvPr id="165" name="Google Shape;165;p3"/>
          <p:cNvSpPr txBox="1">
            <a:spLocks noGrp="1"/>
          </p:cNvSpPr>
          <p:nvPr>
            <p:ph type="body" idx="1"/>
          </p:nvPr>
        </p:nvSpPr>
        <p:spPr>
          <a:xfrm>
            <a:off x="459350" y="1933800"/>
            <a:ext cx="11263200" cy="492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28600" lvl="0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•"/>
            </a:pPr>
            <a:r>
              <a:rPr lang="en-US" sz="2600" i="0" u="none" strike="noStrike" dirty="0"/>
              <a:t>PowerShell has been around since Nov 2006 (v1.0 Windows XP &amp; Server 2003) </a:t>
            </a:r>
            <a:endParaRPr sz="2600" dirty="0"/>
          </a:p>
          <a:p>
            <a:pPr marL="685800" lvl="1" indent="-3111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•"/>
            </a:pPr>
            <a:r>
              <a:rPr lang="en-US" sz="2600" i="0" u="none" strike="noStrike" dirty="0"/>
              <a:t>Started with 129 native cmdlets </a:t>
            </a:r>
            <a:endParaRPr sz="2600" dirty="0"/>
          </a:p>
          <a:p>
            <a:pPr marL="2286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</a:pPr>
            <a:endParaRPr sz="2600" dirty="0"/>
          </a:p>
          <a:p>
            <a:pPr marL="228600" lvl="0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•"/>
            </a:pPr>
            <a:r>
              <a:rPr lang="en-US" sz="2600" i="0" u="none" strike="noStrike" dirty="0"/>
              <a:t>Built in .NET - you can reference .NET libraries</a:t>
            </a:r>
            <a:endParaRPr sz="2600" dirty="0"/>
          </a:p>
          <a:p>
            <a:pPr marL="228600" lvl="0" indent="-1206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</a:pPr>
            <a:endParaRPr sz="2600" dirty="0"/>
          </a:p>
          <a:p>
            <a:pPr marL="228600" lvl="0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•"/>
            </a:pPr>
            <a:r>
              <a:rPr lang="en-US" sz="2600" i="0" u="none" strike="noStrike" dirty="0"/>
              <a:t>Current version 7.3 has over 1500 native cmdlets</a:t>
            </a:r>
            <a:endParaRPr sz="2600" dirty="0"/>
          </a:p>
          <a:p>
            <a:pPr marL="228600" lvl="0" indent="-1206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</a:pPr>
            <a:endParaRPr sz="2600" i="0" u="none" strike="noStrike" dirty="0"/>
          </a:p>
          <a:p>
            <a:pPr marL="228600" lvl="0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•"/>
            </a:pPr>
            <a:r>
              <a:rPr lang="en-US" sz="2600" i="0" u="none" strike="noStrike" dirty="0"/>
              <a:t>SQL Server Management Objects (SMO) was built for SQL 2005</a:t>
            </a:r>
            <a:endParaRPr sz="2600" dirty="0"/>
          </a:p>
          <a:p>
            <a:pPr marL="228600" lvl="0" indent="-1206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</a:pPr>
            <a:endParaRPr sz="2600" i="0" u="none" strike="noStrike" dirty="0"/>
          </a:p>
          <a:p>
            <a:pPr marL="228600" lvl="0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 i="0" u="none" strike="noStrike" dirty="0"/>
              <a:t>SQLPS module with limited functionality, used with </a:t>
            </a:r>
            <a:r>
              <a:rPr lang="en-US" sz="2600" dirty="0"/>
              <a:t>SQL Agent</a:t>
            </a:r>
            <a:r>
              <a:rPr lang="en-US" sz="2600" i="0" u="none" strike="noStrike" dirty="0"/>
              <a:t> when you select PowerShell as the step type.</a:t>
            </a:r>
            <a:r>
              <a:rPr lang="en-US" sz="2600" dirty="0"/>
              <a:t> Included with the SQL Server installation</a:t>
            </a:r>
            <a:endParaRPr sz="2600" b="1" dirty="0"/>
          </a:p>
          <a:p>
            <a:pPr marL="228600" lvl="0" indent="-1206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</a:pPr>
            <a:endParaRPr sz="2600" i="0" u="none" strike="noStrike" dirty="0"/>
          </a:p>
          <a:p>
            <a:pPr marL="228600" lvl="0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•"/>
            </a:pPr>
            <a:r>
              <a:rPr lang="en-US" sz="2600" dirty="0"/>
              <a:t>SQLServer</a:t>
            </a:r>
            <a:r>
              <a:rPr lang="en-US" sz="2600" i="0" u="none" strike="noStrike" dirty="0"/>
              <a:t> module - This is </a:t>
            </a:r>
            <a:r>
              <a:rPr lang="en-US" sz="2600" dirty="0"/>
              <a:t>the currently maintained module</a:t>
            </a:r>
            <a:br>
              <a:rPr lang="en-US" sz="2600" dirty="0"/>
            </a:br>
            <a:r>
              <a:rPr lang="en-US" sz="2600" dirty="0"/>
              <a:t>Last updated (06/17/2025) 137M downloads</a:t>
            </a:r>
            <a:endParaRPr sz="2600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</a:pPr>
            <a:endParaRPr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4"/>
          <p:cNvSpPr/>
          <p:nvPr/>
        </p:nvSpPr>
        <p:spPr>
          <a:xfrm flipH="1">
            <a:off x="-3" y="-1"/>
            <a:ext cx="12192000" cy="15906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2F5496"/>
              </a:gs>
            </a:gsLst>
            <a:lin ang="8400134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4"/>
          <p:cNvSpPr/>
          <p:nvPr/>
        </p:nvSpPr>
        <p:spPr>
          <a:xfrm rot="10800000" flipH="1">
            <a:off x="-3" y="142"/>
            <a:ext cx="8115300" cy="1590600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0000">
                <a:srgbClr val="4472C4">
                  <a:alpha val="0"/>
                </a:srgbClr>
              </a:gs>
              <a:gs pos="100000">
                <a:srgbClr val="1F3864">
                  <a:alpha val="54901"/>
                </a:srgbClr>
              </a:gs>
            </a:gsLst>
            <a:lin ang="1380014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4"/>
          <p:cNvSpPr/>
          <p:nvPr/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50000">
                <a:srgbClr val="000000">
                  <a:alpha val="0"/>
                </a:srgbClr>
              </a:gs>
              <a:gs pos="99000">
                <a:srgbClr val="1F3864">
                  <a:alpha val="51764"/>
                </a:srgbClr>
              </a:gs>
              <a:gs pos="100000">
                <a:srgbClr val="1F3864">
                  <a:alpha val="51764"/>
                </a:srgbClr>
              </a:gs>
            </a:gsLst>
            <a:lin ang="16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4"/>
          <p:cNvSpPr txBox="1"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 dirty="0">
                <a:solidFill>
                  <a:srgbClr val="FFFFFF"/>
                </a:solidFill>
              </a:rPr>
              <a:t>History of dbatools</a:t>
            </a:r>
            <a:endParaRPr dirty="0"/>
          </a:p>
        </p:txBody>
      </p:sp>
      <p:sp>
        <p:nvSpPr>
          <p:cNvPr id="176" name="Google Shape;176;p4"/>
          <p:cNvSpPr txBox="1">
            <a:spLocks noGrp="1"/>
          </p:cNvSpPr>
          <p:nvPr>
            <p:ph type="body" idx="1"/>
          </p:nvPr>
        </p:nvSpPr>
        <p:spPr>
          <a:xfrm>
            <a:off x="459350" y="1854050"/>
            <a:ext cx="11153400" cy="47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600" dirty="0"/>
              <a:t>Started out as a group of commands for migrating SQL instances in 2016 by </a:t>
            </a:r>
            <a:r>
              <a:rPr lang="en-US" sz="2600" u="sng" dirty="0">
                <a:solidFill>
                  <a:schemeClr val="hlink"/>
                </a:solidFill>
                <a:hlinkClick r:id="rId3"/>
              </a:rPr>
              <a:t>Chrissy LeMaire</a:t>
            </a:r>
            <a:r>
              <a:rPr lang="en-US" sz="2600" dirty="0"/>
              <a:t>, SQL &amp; PowerShell MVP</a:t>
            </a:r>
            <a:endParaRPr sz="2600" dirty="0"/>
          </a:p>
          <a:p>
            <a:pPr marL="0" lvl="0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sz="2600" dirty="0"/>
          </a:p>
          <a:p>
            <a:pPr marL="0" lvl="0" indent="0">
              <a:spcBef>
                <a:spcPts val="600"/>
              </a:spcBef>
              <a:buSzPts val="2000"/>
              <a:buNone/>
            </a:pPr>
            <a:r>
              <a:rPr lang="en-US" sz="2600" dirty="0"/>
              <a:t>With the help of over 140 contributors, it has grown into a fully fledged module with over 700 commands that allow DBAs to automate and standardize their work. Latest version is 2.8.1 released on 04/21. Almost 9M </a:t>
            </a:r>
            <a:r>
              <a:rPr lang="en-US" sz="2600"/>
              <a:t>total downloads</a:t>
            </a:r>
            <a:endParaRPr lang="en-US" sz="2600" dirty="0"/>
          </a:p>
          <a:p>
            <a:pPr marL="0" lvl="0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lang="en-US" sz="2600" dirty="0"/>
          </a:p>
          <a:p>
            <a:pPr marL="0" lvl="0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600" dirty="0"/>
              <a:t>Is it Secure ?</a:t>
            </a:r>
            <a:endParaRPr sz="2600" dirty="0"/>
          </a:p>
          <a:p>
            <a:pPr marL="228600" lvl="0" indent="-2667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 b="0" dirty="0"/>
              <a:t>Open Source with limited permissions to merge to Master. 5 out of 6 are current/former Microsoft MVPs or employees.</a:t>
            </a:r>
            <a:endParaRPr sz="2600" dirty="0"/>
          </a:p>
          <a:p>
            <a:pPr marL="228600" lvl="0" indent="-2667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 b="0" dirty="0"/>
              <a:t>All the code is digitally signed</a:t>
            </a:r>
            <a:endParaRPr sz="2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5"/>
          <p:cNvSpPr/>
          <p:nvPr/>
        </p:nvSpPr>
        <p:spPr>
          <a:xfrm flipH="1">
            <a:off x="-3" y="-1"/>
            <a:ext cx="12192000" cy="15906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2F5496"/>
              </a:gs>
            </a:gsLst>
            <a:lin ang="8400134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5"/>
          <p:cNvSpPr/>
          <p:nvPr/>
        </p:nvSpPr>
        <p:spPr>
          <a:xfrm flipH="1">
            <a:off x="8115297" y="-1"/>
            <a:ext cx="4076700" cy="1590600"/>
          </a:xfrm>
          <a:prstGeom prst="rect">
            <a:avLst/>
          </a:prstGeom>
          <a:gradFill>
            <a:gsLst>
              <a:gs pos="0">
                <a:srgbClr val="4472C4">
                  <a:alpha val="65882"/>
                </a:srgbClr>
              </a:gs>
              <a:gs pos="100000">
                <a:srgbClr val="000000">
                  <a:alpha val="29803"/>
                </a:srgbClr>
              </a:gs>
            </a:gsLst>
            <a:lin ang="1319991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5"/>
          <p:cNvSpPr/>
          <p:nvPr/>
        </p:nvSpPr>
        <p:spPr>
          <a:xfrm>
            <a:off x="459350" y="-1"/>
            <a:ext cx="11732700" cy="159750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50000">
                <a:srgbClr val="000000">
                  <a:alpha val="0"/>
                </a:srgbClr>
              </a:gs>
              <a:gs pos="99000">
                <a:srgbClr val="1F3864">
                  <a:alpha val="51764"/>
                </a:srgbClr>
              </a:gs>
              <a:gs pos="100000">
                <a:srgbClr val="1F3864">
                  <a:alpha val="51764"/>
                </a:srgbClr>
              </a:gs>
            </a:gsLst>
            <a:lin ang="16799925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5"/>
          <p:cNvSpPr/>
          <p:nvPr/>
        </p:nvSpPr>
        <p:spPr>
          <a:xfrm flipH="1">
            <a:off x="0" y="0"/>
            <a:ext cx="12192000" cy="1600200"/>
          </a:xfrm>
          <a:prstGeom prst="rect">
            <a:avLst/>
          </a:prstGeom>
          <a:gradFill>
            <a:gsLst>
              <a:gs pos="0">
                <a:srgbClr val="000000">
                  <a:alpha val="95686"/>
                </a:srgbClr>
              </a:gs>
              <a:gs pos="100000">
                <a:srgbClr val="2F5496"/>
              </a:gs>
            </a:gsLst>
            <a:lin ang="8400134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5"/>
          <p:cNvSpPr/>
          <p:nvPr/>
        </p:nvSpPr>
        <p:spPr>
          <a:xfrm rot="10800000" flipH="1">
            <a:off x="-3" y="142"/>
            <a:ext cx="8115300" cy="1590600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0000">
                <a:srgbClr val="4472C4">
                  <a:alpha val="0"/>
                </a:srgbClr>
              </a:gs>
              <a:gs pos="100000">
                <a:srgbClr val="1F3864">
                  <a:alpha val="54901"/>
                </a:srgbClr>
              </a:gs>
            </a:gsLst>
            <a:lin ang="1380014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5"/>
          <p:cNvSpPr txBox="1"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>
                <a:solidFill>
                  <a:srgbClr val="FFFFFF"/>
                </a:solidFill>
              </a:rPr>
              <a:t>Powershell Concepts</a:t>
            </a:r>
            <a:endParaRPr/>
          </a:p>
        </p:txBody>
      </p:sp>
      <p:grpSp>
        <p:nvGrpSpPr>
          <p:cNvPr id="189" name="Google Shape;189;p5"/>
          <p:cNvGrpSpPr/>
          <p:nvPr/>
        </p:nvGrpSpPr>
        <p:grpSpPr>
          <a:xfrm>
            <a:off x="647257" y="2558068"/>
            <a:ext cx="10921425" cy="3301825"/>
            <a:chOff x="3201" y="445489"/>
            <a:chExt cx="10921425" cy="3301825"/>
          </a:xfrm>
        </p:grpSpPr>
        <p:sp>
          <p:nvSpPr>
            <p:cNvPr id="190" name="Google Shape;190;p5"/>
            <p:cNvSpPr/>
            <p:nvPr/>
          </p:nvSpPr>
          <p:spPr>
            <a:xfrm>
              <a:off x="3201" y="445489"/>
              <a:ext cx="2539866" cy="1523919"/>
            </a:xfrm>
            <a:prstGeom prst="rect">
              <a:avLst/>
            </a:prstGeom>
            <a:solidFill>
              <a:schemeClr val="dk2"/>
            </a:solidFill>
            <a:ln w="12700" cap="flat" cmpd="sng">
              <a:solidFill>
                <a:schemeClr val="l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91;p5"/>
            <p:cNvSpPr txBox="1"/>
            <p:nvPr/>
          </p:nvSpPr>
          <p:spPr>
            <a:xfrm>
              <a:off x="3201" y="445489"/>
              <a:ext cx="2539866" cy="152391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9525" tIns="129525" rIns="129525" bIns="1295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400"/>
                <a:buFont typeface="Calibri"/>
                <a:buNone/>
              </a:pPr>
              <a:r>
                <a:rPr lang="en-US" sz="3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Commenting</a:t>
              </a:r>
              <a:endParaRPr/>
            </a:p>
          </p:txBody>
        </p:sp>
        <p:sp>
          <p:nvSpPr>
            <p:cNvPr id="192" name="Google Shape;192;p5"/>
            <p:cNvSpPr/>
            <p:nvPr/>
          </p:nvSpPr>
          <p:spPr>
            <a:xfrm>
              <a:off x="2797054" y="445489"/>
              <a:ext cx="2539866" cy="1523919"/>
            </a:xfrm>
            <a:prstGeom prst="rect">
              <a:avLst/>
            </a:prstGeom>
            <a:solidFill>
              <a:schemeClr val="dk2"/>
            </a:solidFill>
            <a:ln w="12700" cap="flat" cmpd="sng">
              <a:solidFill>
                <a:schemeClr val="l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5"/>
            <p:cNvSpPr txBox="1"/>
            <p:nvPr/>
          </p:nvSpPr>
          <p:spPr>
            <a:xfrm>
              <a:off x="2797054" y="445489"/>
              <a:ext cx="2539866" cy="152391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9525" tIns="129525" rIns="129525" bIns="129525" anchor="ctr" anchorCtr="0">
              <a:noAutofit/>
            </a:bodyPr>
            <a:lstStyle/>
            <a:p>
              <a:pPr marL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400"/>
                <a:buFont typeface="Calibri"/>
                <a:buNone/>
              </a:pPr>
              <a:r>
                <a:rPr lang="en-US" sz="3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Variables</a:t>
              </a:r>
              <a:endParaRPr/>
            </a:p>
          </p:txBody>
        </p:sp>
        <p:sp>
          <p:nvSpPr>
            <p:cNvPr id="194" name="Google Shape;194;p5"/>
            <p:cNvSpPr/>
            <p:nvPr/>
          </p:nvSpPr>
          <p:spPr>
            <a:xfrm>
              <a:off x="5590907" y="445489"/>
              <a:ext cx="2539866" cy="1523919"/>
            </a:xfrm>
            <a:prstGeom prst="rect">
              <a:avLst/>
            </a:prstGeom>
            <a:solidFill>
              <a:schemeClr val="dk2"/>
            </a:solidFill>
            <a:ln w="12700" cap="flat" cmpd="sng">
              <a:solidFill>
                <a:schemeClr val="l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5"/>
            <p:cNvSpPr txBox="1"/>
            <p:nvPr/>
          </p:nvSpPr>
          <p:spPr>
            <a:xfrm>
              <a:off x="5590907" y="445489"/>
              <a:ext cx="2539866" cy="152391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9525" tIns="129525" rIns="129525" bIns="1295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400"/>
                <a:buFont typeface="Calibri"/>
                <a:buNone/>
              </a:pPr>
              <a:r>
                <a:rPr lang="en-US" sz="3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Modules</a:t>
              </a:r>
              <a:endParaRPr sz="3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" name="Google Shape;196;p5"/>
            <p:cNvSpPr/>
            <p:nvPr/>
          </p:nvSpPr>
          <p:spPr>
            <a:xfrm>
              <a:off x="8384760" y="445489"/>
              <a:ext cx="2539866" cy="1523919"/>
            </a:xfrm>
            <a:prstGeom prst="rect">
              <a:avLst/>
            </a:prstGeom>
            <a:solidFill>
              <a:schemeClr val="dk2"/>
            </a:solidFill>
            <a:ln w="12700" cap="flat" cmpd="sng">
              <a:solidFill>
                <a:schemeClr val="l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5"/>
            <p:cNvSpPr txBox="1"/>
            <p:nvPr/>
          </p:nvSpPr>
          <p:spPr>
            <a:xfrm>
              <a:off x="8384760" y="445489"/>
              <a:ext cx="2539866" cy="152391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9525" tIns="129525" rIns="129525" bIns="129525" anchor="ctr" anchorCtr="0">
              <a:noAutofit/>
            </a:bodyPr>
            <a:lstStyle/>
            <a:p>
              <a:pPr marL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400"/>
                <a:buFont typeface="Calibri"/>
                <a:buNone/>
              </a:pPr>
              <a:r>
                <a:rPr lang="en-US" sz="3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Parameters</a:t>
              </a:r>
              <a:endParaRPr/>
            </a:p>
          </p:txBody>
        </p:sp>
        <p:sp>
          <p:nvSpPr>
            <p:cNvPr id="198" name="Google Shape;198;p5"/>
            <p:cNvSpPr/>
            <p:nvPr/>
          </p:nvSpPr>
          <p:spPr>
            <a:xfrm>
              <a:off x="3201" y="2223395"/>
              <a:ext cx="2539866" cy="1523919"/>
            </a:xfrm>
            <a:prstGeom prst="rect">
              <a:avLst/>
            </a:prstGeom>
            <a:solidFill>
              <a:schemeClr val="dk2"/>
            </a:solidFill>
            <a:ln w="12700" cap="flat" cmpd="sng">
              <a:solidFill>
                <a:schemeClr val="l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5"/>
            <p:cNvSpPr txBox="1"/>
            <p:nvPr/>
          </p:nvSpPr>
          <p:spPr>
            <a:xfrm>
              <a:off x="3201" y="2223395"/>
              <a:ext cx="2539866" cy="152391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9525" tIns="129525" rIns="129525" bIns="1295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400"/>
                <a:buFont typeface="Calibri"/>
                <a:buNone/>
              </a:pPr>
              <a:r>
                <a:rPr lang="en-US" sz="3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Pipelines</a:t>
              </a:r>
              <a:endParaRPr/>
            </a:p>
          </p:txBody>
        </p:sp>
        <p:sp>
          <p:nvSpPr>
            <p:cNvPr id="200" name="Google Shape;200;p5"/>
            <p:cNvSpPr/>
            <p:nvPr/>
          </p:nvSpPr>
          <p:spPr>
            <a:xfrm>
              <a:off x="2797054" y="2223395"/>
              <a:ext cx="2539866" cy="1523919"/>
            </a:xfrm>
            <a:prstGeom prst="rect">
              <a:avLst/>
            </a:prstGeom>
            <a:solidFill>
              <a:schemeClr val="dk2"/>
            </a:solidFill>
            <a:ln w="12700" cap="flat" cmpd="sng">
              <a:solidFill>
                <a:schemeClr val="l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5"/>
            <p:cNvSpPr txBox="1"/>
            <p:nvPr/>
          </p:nvSpPr>
          <p:spPr>
            <a:xfrm>
              <a:off x="2797054" y="2223395"/>
              <a:ext cx="2539866" cy="152391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9525" tIns="129525" rIns="129525" bIns="1295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400"/>
                <a:buFont typeface="Calibri"/>
                <a:buNone/>
              </a:pPr>
              <a:r>
                <a:rPr lang="en-US" sz="3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Limiting </a:t>
              </a:r>
              <a:r>
                <a:rPr lang="en-US" sz="34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Output</a:t>
              </a:r>
              <a:endParaRPr/>
            </a:p>
          </p:txBody>
        </p:sp>
        <p:sp>
          <p:nvSpPr>
            <p:cNvPr id="202" name="Google Shape;202;p5"/>
            <p:cNvSpPr/>
            <p:nvPr/>
          </p:nvSpPr>
          <p:spPr>
            <a:xfrm>
              <a:off x="5590907" y="2223395"/>
              <a:ext cx="2539866" cy="1523919"/>
            </a:xfrm>
            <a:prstGeom prst="rect">
              <a:avLst/>
            </a:prstGeom>
            <a:solidFill>
              <a:schemeClr val="dk2"/>
            </a:solidFill>
            <a:ln w="12700" cap="flat" cmpd="sng">
              <a:solidFill>
                <a:schemeClr val="l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5"/>
            <p:cNvSpPr txBox="1"/>
            <p:nvPr/>
          </p:nvSpPr>
          <p:spPr>
            <a:xfrm>
              <a:off x="5590907" y="2223395"/>
              <a:ext cx="2539866" cy="152391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9525" tIns="129525" rIns="129525" bIns="1295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400"/>
                <a:buFont typeface="Calibri"/>
                <a:buNone/>
              </a:pPr>
              <a:r>
                <a:rPr lang="en-US" sz="34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Formatting Output</a:t>
              </a:r>
              <a:endParaRPr/>
            </a:p>
          </p:txBody>
        </p:sp>
        <p:sp>
          <p:nvSpPr>
            <p:cNvPr id="204" name="Google Shape;204;p5"/>
            <p:cNvSpPr/>
            <p:nvPr/>
          </p:nvSpPr>
          <p:spPr>
            <a:xfrm>
              <a:off x="8384760" y="2223395"/>
              <a:ext cx="2539866" cy="1523919"/>
            </a:xfrm>
            <a:prstGeom prst="rect">
              <a:avLst/>
            </a:prstGeom>
            <a:solidFill>
              <a:schemeClr val="dk2"/>
            </a:solidFill>
            <a:ln w="12700" cap="flat" cmpd="sng">
              <a:solidFill>
                <a:schemeClr val="l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5"/>
            <p:cNvSpPr txBox="1"/>
            <p:nvPr/>
          </p:nvSpPr>
          <p:spPr>
            <a:xfrm>
              <a:off x="8384760" y="2223395"/>
              <a:ext cx="2539866" cy="152391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9525" tIns="129525" rIns="129525" bIns="1295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400"/>
                <a:buFont typeface="Calibri"/>
                <a:buNone/>
              </a:pPr>
              <a:r>
                <a:rPr lang="en-US" sz="3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Looping</a:t>
              </a: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8"/>
          <p:cNvSpPr/>
          <p:nvPr/>
        </p:nvSpPr>
        <p:spPr>
          <a:xfrm>
            <a:off x="11975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8"/>
          <p:cNvSpPr/>
          <p:nvPr/>
        </p:nvSpPr>
        <p:spPr>
          <a:xfrm flipH="1">
            <a:off x="0" y="-212"/>
            <a:ext cx="12192000" cy="1575900"/>
          </a:xfrm>
          <a:prstGeom prst="rect">
            <a:avLst/>
          </a:prstGeom>
          <a:gradFill>
            <a:gsLst>
              <a:gs pos="0">
                <a:srgbClr val="000000">
                  <a:alpha val="95686"/>
                </a:srgbClr>
              </a:gs>
              <a:gs pos="100000">
                <a:srgbClr val="2F5496"/>
              </a:gs>
            </a:gsLst>
            <a:lin ang="8400134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8"/>
          <p:cNvSpPr/>
          <p:nvPr/>
        </p:nvSpPr>
        <p:spPr>
          <a:xfrm rot="10800000" flipH="1">
            <a:off x="-3" y="142"/>
            <a:ext cx="8115300" cy="1590600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0000">
                <a:srgbClr val="4472C4">
                  <a:alpha val="0"/>
                </a:srgbClr>
              </a:gs>
              <a:gs pos="100000">
                <a:srgbClr val="1F3864">
                  <a:alpha val="54901"/>
                </a:srgbClr>
              </a:gs>
            </a:gsLst>
            <a:lin ang="1380014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8"/>
          <p:cNvSpPr txBox="1"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>
                <a:solidFill>
                  <a:srgbClr val="FFFFFF"/>
                </a:solidFill>
              </a:rPr>
              <a:t>Commenting</a:t>
            </a:r>
            <a:endParaRPr/>
          </a:p>
        </p:txBody>
      </p:sp>
      <p:grpSp>
        <p:nvGrpSpPr>
          <p:cNvPr id="214" name="Google Shape;214;p8"/>
          <p:cNvGrpSpPr/>
          <p:nvPr/>
        </p:nvGrpSpPr>
        <p:grpSpPr>
          <a:xfrm>
            <a:off x="2192970" y="2408981"/>
            <a:ext cx="7830000" cy="3600000"/>
            <a:chOff x="1548914" y="296402"/>
            <a:chExt cx="7830000" cy="3600000"/>
          </a:xfrm>
        </p:grpSpPr>
        <p:sp>
          <p:nvSpPr>
            <p:cNvPr id="215" name="Google Shape;215;p8"/>
            <p:cNvSpPr/>
            <p:nvPr/>
          </p:nvSpPr>
          <p:spPr>
            <a:xfrm>
              <a:off x="2250914" y="296402"/>
              <a:ext cx="2196000" cy="2196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8"/>
            <p:cNvSpPr/>
            <p:nvPr/>
          </p:nvSpPr>
          <p:spPr>
            <a:xfrm>
              <a:off x="2718914" y="764402"/>
              <a:ext cx="1260000" cy="12600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8"/>
            <p:cNvSpPr/>
            <p:nvPr/>
          </p:nvSpPr>
          <p:spPr>
            <a:xfrm>
              <a:off x="1548914" y="3176402"/>
              <a:ext cx="3600000" cy="72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8"/>
            <p:cNvSpPr txBox="1"/>
            <p:nvPr/>
          </p:nvSpPr>
          <p:spPr>
            <a:xfrm>
              <a:off x="1548914" y="3176402"/>
              <a:ext cx="3600000" cy="72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700"/>
                <a:buFont typeface="Calibri"/>
                <a:buNone/>
              </a:pPr>
              <a:r>
                <a:rPr lang="en-US" sz="27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SINGLE LINE COMMENTS</a:t>
              </a:r>
              <a:endParaRPr/>
            </a:p>
          </p:txBody>
        </p:sp>
        <p:sp>
          <p:nvSpPr>
            <p:cNvPr id="219" name="Google Shape;219;p8"/>
            <p:cNvSpPr/>
            <p:nvPr/>
          </p:nvSpPr>
          <p:spPr>
            <a:xfrm>
              <a:off x="6480914" y="296402"/>
              <a:ext cx="2196000" cy="2196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20;p8"/>
            <p:cNvSpPr/>
            <p:nvPr/>
          </p:nvSpPr>
          <p:spPr>
            <a:xfrm>
              <a:off x="6948914" y="764402"/>
              <a:ext cx="1260000" cy="1260000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8"/>
            <p:cNvSpPr/>
            <p:nvPr/>
          </p:nvSpPr>
          <p:spPr>
            <a:xfrm>
              <a:off x="5778914" y="3176402"/>
              <a:ext cx="3600000" cy="72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8"/>
            <p:cNvSpPr txBox="1"/>
            <p:nvPr/>
          </p:nvSpPr>
          <p:spPr>
            <a:xfrm>
              <a:off x="5778914" y="3176402"/>
              <a:ext cx="3600000" cy="72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700"/>
                <a:buFont typeface="Calibri"/>
                <a:buNone/>
              </a:pPr>
              <a:r>
                <a:rPr lang="en-US" sz="27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MULTI-LINE COMMENTS</a:t>
              </a:r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9"/>
          <p:cNvSpPr/>
          <p:nvPr/>
        </p:nvSpPr>
        <p:spPr>
          <a:xfrm rot="10800000">
            <a:off x="0" y="0"/>
            <a:ext cx="12192000" cy="1575900"/>
          </a:xfrm>
          <a:prstGeom prst="rect">
            <a:avLst/>
          </a:prstGeom>
          <a:gradFill>
            <a:gsLst>
              <a:gs pos="0">
                <a:srgbClr val="000000">
                  <a:alpha val="95686"/>
                </a:srgbClr>
              </a:gs>
              <a:gs pos="100000">
                <a:srgbClr val="2F5496"/>
              </a:gs>
            </a:gsLst>
            <a:lin ang="839841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9"/>
          <p:cNvSpPr/>
          <p:nvPr/>
        </p:nvSpPr>
        <p:spPr>
          <a:xfrm rot="10800000" flipH="1">
            <a:off x="-3" y="142"/>
            <a:ext cx="8115300" cy="1590600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0000">
                <a:srgbClr val="4472C4">
                  <a:alpha val="0"/>
                </a:srgbClr>
              </a:gs>
              <a:gs pos="100000">
                <a:srgbClr val="1F3864">
                  <a:alpha val="54901"/>
                </a:srgbClr>
              </a:gs>
            </a:gsLst>
            <a:lin ang="1380014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9"/>
          <p:cNvSpPr txBox="1">
            <a:spLocks noGrp="1"/>
          </p:cNvSpPr>
          <p:nvPr>
            <p:ph type="title"/>
          </p:nvPr>
        </p:nvSpPr>
        <p:spPr>
          <a:xfrm>
            <a:off x="1371600" y="347472"/>
            <a:ext cx="10040100" cy="8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Demo </a:t>
            </a:r>
            <a:r>
              <a:rPr lang="en-US" sz="4000">
                <a:solidFill>
                  <a:srgbClr val="FFFFFF"/>
                </a:solidFill>
              </a:rPr>
              <a:t>1</a:t>
            </a:r>
            <a:r>
              <a:rPr lang="en-US" sz="4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- Commenting</a:t>
            </a:r>
            <a:endParaRPr/>
          </a:p>
        </p:txBody>
      </p:sp>
      <p:pic>
        <p:nvPicPr>
          <p:cNvPr id="231" name="Google Shape;231;p9" descr="Monitor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4088" y="1966293"/>
            <a:ext cx="4452160" cy="445216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9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Comment Types:</a:t>
            </a:r>
            <a:endParaRPr/>
          </a:p>
          <a:p>
            <a:pPr marL="4572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Single Line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Multi-Line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Code Regions</a:t>
            </a:r>
            <a:endParaRPr/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0"/>
          <p:cNvSpPr/>
          <p:nvPr/>
        </p:nvSpPr>
        <p:spPr>
          <a:xfrm flipH="1">
            <a:off x="-3" y="-1"/>
            <a:ext cx="12192000" cy="15906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2F5496"/>
              </a:gs>
            </a:gsLst>
            <a:lin ang="8400134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0"/>
          <p:cNvSpPr/>
          <p:nvPr/>
        </p:nvSpPr>
        <p:spPr>
          <a:xfrm rot="10800000" flipH="1">
            <a:off x="-3" y="142"/>
            <a:ext cx="8115300" cy="1590600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0000">
                <a:srgbClr val="4472C4">
                  <a:alpha val="0"/>
                </a:srgbClr>
              </a:gs>
              <a:gs pos="100000">
                <a:srgbClr val="1F3864">
                  <a:alpha val="54901"/>
                </a:srgbClr>
              </a:gs>
            </a:gsLst>
            <a:lin ang="1380014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0"/>
          <p:cNvSpPr txBox="1">
            <a:spLocks noGrp="1"/>
          </p:cNvSpPr>
          <p:nvPr>
            <p:ph type="title"/>
          </p:nvPr>
        </p:nvSpPr>
        <p:spPr>
          <a:xfrm>
            <a:off x="1371597" y="348865"/>
            <a:ext cx="10044000" cy="8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Variables</a:t>
            </a:r>
            <a:endParaRPr/>
          </a:p>
        </p:txBody>
      </p:sp>
      <p:sp>
        <p:nvSpPr>
          <p:cNvPr id="241" name="Google Shape;241;p10"/>
          <p:cNvSpPr txBox="1">
            <a:spLocks noGrp="1"/>
          </p:cNvSpPr>
          <p:nvPr>
            <p:ph type="body" idx="2"/>
          </p:nvPr>
        </p:nvSpPr>
        <p:spPr>
          <a:xfrm>
            <a:off x="1166297" y="2112579"/>
            <a:ext cx="4872919" cy="4089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12598" lvl="0" indent="-21234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Names start with a $</a:t>
            </a:r>
            <a:endParaRPr sz="2600" dirty="0"/>
          </a:p>
          <a:p>
            <a:pPr marL="212598" lvl="0" indent="-212343" algn="l" rtl="0">
              <a:lnSpc>
                <a:spcPct val="90000"/>
              </a:lnSpc>
              <a:spcBef>
                <a:spcPts val="93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Names are not case sensitive</a:t>
            </a:r>
            <a:endParaRPr sz="2600" dirty="0"/>
          </a:p>
          <a:p>
            <a:pPr marL="212598" lvl="0" indent="-212343" algn="l" rtl="0">
              <a:lnSpc>
                <a:spcPct val="90000"/>
              </a:lnSpc>
              <a:spcBef>
                <a:spcPts val="93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 contain numbers and letters</a:t>
            </a:r>
            <a:endParaRPr sz="2600" dirty="0"/>
          </a:p>
          <a:p>
            <a:pPr marL="212598" lvl="0" indent="-212343" algn="l" rtl="0">
              <a:lnSpc>
                <a:spcPct val="90000"/>
              </a:lnSpc>
              <a:spcBef>
                <a:spcPts val="93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 dirty="0"/>
              <a:t>Variables have multiple scopes:</a:t>
            </a:r>
            <a:endParaRPr sz="2600" dirty="0"/>
          </a:p>
          <a:p>
            <a:pPr marL="669798" lvl="1" indent="-225298" algn="l" rtl="0">
              <a:lnSpc>
                <a:spcPct val="90000"/>
              </a:lnSpc>
              <a:spcBef>
                <a:spcPts val="93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 dirty="0"/>
              <a:t>Global</a:t>
            </a:r>
            <a:endParaRPr sz="2600" dirty="0"/>
          </a:p>
          <a:p>
            <a:pPr marL="669798" lvl="1" indent="-225298" algn="l" rtl="0">
              <a:lnSpc>
                <a:spcPct val="90000"/>
              </a:lnSpc>
              <a:spcBef>
                <a:spcPts val="93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 dirty="0"/>
              <a:t>Local</a:t>
            </a:r>
            <a:endParaRPr sz="2600" dirty="0"/>
          </a:p>
          <a:p>
            <a:pPr marL="669798" lvl="1" indent="-225298" algn="l" rtl="0">
              <a:lnSpc>
                <a:spcPct val="90000"/>
              </a:lnSpc>
              <a:spcBef>
                <a:spcPts val="93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 dirty="0"/>
              <a:t>Script</a:t>
            </a:r>
            <a:endParaRPr sz="2600" dirty="0"/>
          </a:p>
          <a:p>
            <a:pPr marL="669798" lvl="1" indent="-225298" algn="l" rtl="0">
              <a:lnSpc>
                <a:spcPct val="90000"/>
              </a:lnSpc>
              <a:spcBef>
                <a:spcPts val="93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 dirty="0"/>
              <a:t>Private (not really a scope)</a:t>
            </a:r>
            <a:endParaRPr sz="2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1"/>
          <p:cNvSpPr/>
          <p:nvPr/>
        </p:nvSpPr>
        <p:spPr>
          <a:xfrm flipH="1">
            <a:off x="-3" y="-1"/>
            <a:ext cx="12192000" cy="15906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2F5496"/>
              </a:gs>
            </a:gsLst>
            <a:lin ang="8400134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1"/>
          <p:cNvSpPr/>
          <p:nvPr/>
        </p:nvSpPr>
        <p:spPr>
          <a:xfrm rot="10800000" flipH="1">
            <a:off x="-3" y="142"/>
            <a:ext cx="8115300" cy="1590600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0000">
                <a:srgbClr val="4472C4">
                  <a:alpha val="0"/>
                </a:srgbClr>
              </a:gs>
              <a:gs pos="100000">
                <a:srgbClr val="1F3864">
                  <a:alpha val="54901"/>
                </a:srgbClr>
              </a:gs>
            </a:gsLst>
            <a:lin ang="1380014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1"/>
          <p:cNvSpPr txBox="1">
            <a:spLocks noGrp="1"/>
          </p:cNvSpPr>
          <p:nvPr>
            <p:ph type="title"/>
          </p:nvPr>
        </p:nvSpPr>
        <p:spPr>
          <a:xfrm>
            <a:off x="1371600" y="347472"/>
            <a:ext cx="10515600" cy="8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Demo </a:t>
            </a:r>
            <a:r>
              <a:rPr lang="en-US" sz="4000">
                <a:solidFill>
                  <a:srgbClr val="FFFFFF"/>
                </a:solidFill>
              </a:rPr>
              <a:t>2 </a:t>
            </a:r>
            <a:r>
              <a:rPr lang="en-US" sz="4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- Variables</a:t>
            </a:r>
            <a:endParaRPr/>
          </a:p>
        </p:txBody>
      </p:sp>
      <p:pic>
        <p:nvPicPr>
          <p:cNvPr id="250" name="Google Shape;250;p11" descr="Monitor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4088" y="1966293"/>
            <a:ext cx="4452160" cy="445216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11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Variable Types:</a:t>
            </a:r>
            <a:endParaRPr/>
          </a:p>
          <a:p>
            <a:pPr marL="4572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Untyped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Typed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Custom Objects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Arrays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Hashtables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6"/>
          <p:cNvSpPr/>
          <p:nvPr/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2F5496"/>
              </a:gs>
            </a:gsLst>
            <a:lin ang="8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6"/>
          <p:cNvSpPr/>
          <p:nvPr/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0000">
                <a:srgbClr val="4472C4">
                  <a:alpha val="0"/>
                </a:srgbClr>
              </a:gs>
              <a:gs pos="100000">
                <a:srgbClr val="1F3864">
                  <a:alpha val="54901"/>
                </a:srgbClr>
              </a:gs>
            </a:gsLst>
            <a:lin ang="13800001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6"/>
          <p:cNvSpPr/>
          <p:nvPr/>
        </p:nvSpPr>
        <p:spPr>
          <a:xfrm rot="10800000" flipH="1">
            <a:off x="-3" y="142"/>
            <a:ext cx="8115300" cy="1590600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0000">
                <a:srgbClr val="4472C4">
                  <a:alpha val="0"/>
                </a:srgbClr>
              </a:gs>
              <a:gs pos="100000">
                <a:srgbClr val="1F3864">
                  <a:alpha val="54901"/>
                </a:srgbClr>
              </a:gs>
            </a:gsLst>
            <a:lin ang="1380014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6"/>
          <p:cNvSpPr txBox="1"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>
                <a:solidFill>
                  <a:srgbClr val="FFFFFF"/>
                </a:solidFill>
              </a:rPr>
              <a:t>Modules</a:t>
            </a:r>
            <a:endParaRPr/>
          </a:p>
        </p:txBody>
      </p:sp>
      <p:sp>
        <p:nvSpPr>
          <p:cNvPr id="262" name="Google Shape;262;p6"/>
          <p:cNvSpPr txBox="1">
            <a:spLocks noGrp="1"/>
          </p:cNvSpPr>
          <p:nvPr>
            <p:ph type="body" idx="1"/>
          </p:nvPr>
        </p:nvSpPr>
        <p:spPr>
          <a:xfrm>
            <a:off x="459350" y="1834125"/>
            <a:ext cx="8900700" cy="47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28600" lvl="0" indent="-2667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 dirty="0"/>
              <a:t>Modules are a package that contain PowerShell objects like cmdlets, functions, and variables</a:t>
            </a:r>
            <a:endParaRPr sz="2600" dirty="0"/>
          </a:p>
          <a:p>
            <a:pPr marL="228600" lvl="0" indent="-101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sz="2600" dirty="0"/>
          </a:p>
          <a:p>
            <a:pPr marL="228600" lvl="0" indent="-266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 dirty="0"/>
              <a:t>Best place to get modules is the PowerShell Gallery</a:t>
            </a:r>
            <a:endParaRPr sz="2600" dirty="0"/>
          </a:p>
          <a:p>
            <a:pPr marL="685800" lvl="1" indent="-2921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 dirty="0"/>
              <a:t>Over 682 thousand total packages</a:t>
            </a:r>
            <a:endParaRPr sz="2600" dirty="0"/>
          </a:p>
          <a:p>
            <a:pPr marL="685800" lvl="1" indent="-2921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 dirty="0"/>
              <a:t>Over 16 thousand unique packages</a:t>
            </a:r>
            <a:endParaRPr sz="2600" dirty="0"/>
          </a:p>
          <a:p>
            <a:pPr marL="685800" lvl="1" indent="-2921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/>
              <a:t>Over 36 </a:t>
            </a:r>
            <a:r>
              <a:rPr lang="en-US" sz="2600" dirty="0"/>
              <a:t>billion packages downloaded</a:t>
            </a:r>
            <a:endParaRPr sz="2600" dirty="0"/>
          </a:p>
          <a:p>
            <a:pPr marL="228600" lvl="0" indent="-101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sz="2600" dirty="0"/>
          </a:p>
          <a:p>
            <a:pPr marL="228600" lvl="0" indent="-266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 dirty="0"/>
              <a:t>Other Modules are available as components of windows</a:t>
            </a:r>
            <a:br>
              <a:rPr lang="en-US" sz="2600" dirty="0"/>
            </a:br>
            <a:r>
              <a:rPr lang="en-US" sz="2600" dirty="0"/>
              <a:t>ex: </a:t>
            </a:r>
            <a:r>
              <a:rPr lang="en-US" sz="2600" dirty="0" err="1"/>
              <a:t>ActiveDirectory</a:t>
            </a:r>
            <a:r>
              <a:rPr lang="en-US" sz="2600" dirty="0"/>
              <a:t> </a:t>
            </a:r>
            <a:endParaRPr sz="2600" dirty="0"/>
          </a:p>
        </p:txBody>
      </p:sp>
      <p:pic>
        <p:nvPicPr>
          <p:cNvPr id="263" name="Google Shape;263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417050" y="2058205"/>
            <a:ext cx="2400300" cy="3943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7"/>
          <p:cNvSpPr/>
          <p:nvPr/>
        </p:nvSpPr>
        <p:spPr>
          <a:xfrm flipH="1">
            <a:off x="-3" y="-1"/>
            <a:ext cx="12192000" cy="15906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2F5496"/>
              </a:gs>
            </a:gsLst>
            <a:lin ang="8400134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7"/>
          <p:cNvSpPr/>
          <p:nvPr/>
        </p:nvSpPr>
        <p:spPr>
          <a:xfrm rot="10800000" flipH="1">
            <a:off x="-3" y="142"/>
            <a:ext cx="8115300" cy="1590600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0000">
                <a:srgbClr val="4472C4">
                  <a:alpha val="0"/>
                </a:srgbClr>
              </a:gs>
              <a:gs pos="100000">
                <a:srgbClr val="1F3864">
                  <a:alpha val="54901"/>
                </a:srgbClr>
              </a:gs>
            </a:gsLst>
            <a:lin ang="1380014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7"/>
          <p:cNvSpPr txBox="1">
            <a:spLocks noGrp="1"/>
          </p:cNvSpPr>
          <p:nvPr>
            <p:ph type="title"/>
          </p:nvPr>
        </p:nvSpPr>
        <p:spPr>
          <a:xfrm>
            <a:off x="1371600" y="347472"/>
            <a:ext cx="7063800" cy="8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Demo </a:t>
            </a:r>
            <a:r>
              <a:rPr lang="en-US" sz="4000">
                <a:solidFill>
                  <a:srgbClr val="FFFFFF"/>
                </a:solidFill>
              </a:rPr>
              <a:t>3 </a:t>
            </a:r>
            <a:r>
              <a:rPr lang="en-US" sz="4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– Modules</a:t>
            </a:r>
            <a:endParaRPr/>
          </a:p>
        </p:txBody>
      </p:sp>
      <p:pic>
        <p:nvPicPr>
          <p:cNvPr id="273" name="Google Shape;273;p7" descr="Monitor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713" y="1966293"/>
            <a:ext cx="4452160" cy="4452160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7"/>
          <p:cNvSpPr txBox="1"/>
          <p:nvPr/>
        </p:nvSpPr>
        <p:spPr>
          <a:xfrm>
            <a:off x="5920825" y="1814175"/>
            <a:ext cx="4872900" cy="438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4"/>
              <a:buFont typeface="Arial"/>
              <a:buNone/>
            </a:pPr>
            <a:r>
              <a:rPr lang="en-US" sz="260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Commands: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930"/>
              </a:spcBef>
              <a:spcAft>
                <a:spcPts val="0"/>
              </a:spcAft>
              <a:buClr>
                <a:schemeClr val="dk1"/>
              </a:buClr>
              <a:buSzPts val="2604"/>
              <a:buFont typeface="Arial"/>
              <a:buChar char="•"/>
            </a:pPr>
            <a:r>
              <a:rPr lang="en-US" sz="260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Install-Module</a:t>
            </a:r>
            <a:endParaRPr/>
          </a:p>
          <a:p>
            <a:pPr marL="685800" marR="0" lvl="1" indent="-228600" algn="l" rtl="0">
              <a:lnSpc>
                <a:spcPct val="90000"/>
              </a:lnSpc>
              <a:spcBef>
                <a:spcPts val="930"/>
              </a:spcBef>
              <a:spcAft>
                <a:spcPts val="0"/>
              </a:spcAft>
              <a:buClr>
                <a:schemeClr val="dk1"/>
              </a:buClr>
              <a:buSzPts val="2204"/>
              <a:buFont typeface="Arial"/>
              <a:buChar char="•"/>
            </a:pPr>
            <a:r>
              <a:rPr lang="en-US" sz="220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Uninstall-Module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930"/>
              </a:spcBef>
              <a:spcAft>
                <a:spcPts val="0"/>
              </a:spcAft>
              <a:buClr>
                <a:schemeClr val="dk1"/>
              </a:buClr>
              <a:buSzPts val="2604"/>
              <a:buFont typeface="Arial"/>
              <a:buChar char="•"/>
            </a:pPr>
            <a:r>
              <a:rPr lang="en-US" sz="260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Import-Module</a:t>
            </a:r>
            <a:endParaRPr/>
          </a:p>
          <a:p>
            <a:pPr marL="685800" marR="0" lvl="1" indent="-228600" algn="l" rtl="0">
              <a:lnSpc>
                <a:spcPct val="90000"/>
              </a:lnSpc>
              <a:spcBef>
                <a:spcPts val="930"/>
              </a:spcBef>
              <a:spcAft>
                <a:spcPts val="0"/>
              </a:spcAft>
              <a:buClr>
                <a:schemeClr val="dk1"/>
              </a:buClr>
              <a:buSzPts val="2204"/>
              <a:buFont typeface="Arial"/>
              <a:buChar char="•"/>
            </a:pPr>
            <a:r>
              <a:rPr lang="en-US" sz="220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Remove-Module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930"/>
              </a:spcBef>
              <a:spcAft>
                <a:spcPts val="0"/>
              </a:spcAft>
              <a:buClr>
                <a:schemeClr val="dk1"/>
              </a:buClr>
              <a:buSzPts val="2604"/>
              <a:buFont typeface="Arial"/>
              <a:buChar char="•"/>
            </a:pPr>
            <a:r>
              <a:rPr lang="en-US" sz="260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Update-Module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930"/>
              </a:spcBef>
              <a:spcAft>
                <a:spcPts val="0"/>
              </a:spcAft>
              <a:buClr>
                <a:schemeClr val="dk1"/>
              </a:buClr>
              <a:buSzPts val="2604"/>
              <a:buFont typeface="Arial"/>
              <a:buChar char="•"/>
            </a:pPr>
            <a:r>
              <a:rPr lang="en-US" sz="2604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Get-Module</a:t>
            </a:r>
            <a:endParaRPr sz="2604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393954" algn="l" rtl="0">
              <a:lnSpc>
                <a:spcPct val="90000"/>
              </a:lnSpc>
              <a:spcBef>
                <a:spcPts val="930"/>
              </a:spcBef>
              <a:spcAft>
                <a:spcPts val="0"/>
              </a:spcAft>
              <a:buClr>
                <a:schemeClr val="dk1"/>
              </a:buClr>
              <a:buSzPts val="2604"/>
              <a:buFont typeface="Arial"/>
              <a:buChar char="•"/>
            </a:pPr>
            <a:r>
              <a:rPr lang="en-US" sz="2204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Get-InstalledModule</a:t>
            </a:r>
            <a:endParaRPr sz="2604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930"/>
              </a:spcBef>
              <a:spcAft>
                <a:spcPts val="0"/>
              </a:spcAft>
              <a:buClr>
                <a:schemeClr val="dk1"/>
              </a:buClr>
              <a:buSzPts val="2604"/>
              <a:buFont typeface="Arial"/>
              <a:buChar char="•"/>
            </a:pPr>
            <a:r>
              <a:rPr lang="en-US" sz="260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Get-Command</a:t>
            </a:r>
            <a:endParaRPr sz="260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930"/>
              </a:spcBef>
              <a:spcAft>
                <a:spcPts val="0"/>
              </a:spcAft>
              <a:buClr>
                <a:schemeClr val="dk1"/>
              </a:buClr>
              <a:buSzPts val="2604"/>
              <a:buFont typeface="Calibri"/>
              <a:buChar char="•"/>
            </a:pPr>
            <a:r>
              <a:rPr lang="en-US" sz="2604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Get-Help</a:t>
            </a:r>
            <a:endParaRPr sz="2604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7"/>
          <p:cNvSpPr/>
          <p:nvPr/>
        </p:nvSpPr>
        <p:spPr>
          <a:xfrm flipH="1">
            <a:off x="-3" y="-1"/>
            <a:ext cx="12192000" cy="15906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2F5496"/>
              </a:gs>
            </a:gsLst>
            <a:lin ang="8400134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7"/>
          <p:cNvSpPr/>
          <p:nvPr/>
        </p:nvSpPr>
        <p:spPr>
          <a:xfrm rot="10800000" flipH="1">
            <a:off x="-3" y="142"/>
            <a:ext cx="8115300" cy="1590600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0000">
                <a:srgbClr val="4472C4">
                  <a:alpha val="0"/>
                </a:srgbClr>
              </a:gs>
              <a:gs pos="100000">
                <a:srgbClr val="1F3864">
                  <a:alpha val="54901"/>
                </a:srgbClr>
              </a:gs>
            </a:gsLst>
            <a:lin ang="1380014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7"/>
          <p:cNvSpPr txBox="1">
            <a:spLocks noGrp="1"/>
          </p:cNvSpPr>
          <p:nvPr>
            <p:ph type="title"/>
          </p:nvPr>
        </p:nvSpPr>
        <p:spPr>
          <a:xfrm>
            <a:off x="1371599" y="294538"/>
            <a:ext cx="9896100" cy="103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>
                <a:solidFill>
                  <a:srgbClr val="FFFFFF"/>
                </a:solidFill>
              </a:rPr>
              <a:t>Parameters</a:t>
            </a:r>
            <a:endParaRPr/>
          </a:p>
        </p:txBody>
      </p:sp>
      <p:sp>
        <p:nvSpPr>
          <p:cNvPr id="284" name="Google Shape;284;p17"/>
          <p:cNvSpPr txBox="1">
            <a:spLocks noGrp="1"/>
          </p:cNvSpPr>
          <p:nvPr>
            <p:ph type="body" idx="1"/>
          </p:nvPr>
        </p:nvSpPr>
        <p:spPr>
          <a:xfrm>
            <a:off x="1371599" y="2318197"/>
            <a:ext cx="9724031" cy="3683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228600" lvl="0" indent="-101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600"/>
              <a:t>There are multiple ways to pass parameters to a cmdlet or function:</a:t>
            </a:r>
            <a:endParaRPr sz="2600"/>
          </a:p>
          <a:p>
            <a:pPr marL="457200" lvl="0" indent="-3937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-US" sz="2600"/>
              <a:t>By name </a:t>
            </a:r>
            <a:endParaRPr sz="2600"/>
          </a:p>
          <a:p>
            <a:pPr marL="457200" lvl="0" indent="-3937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-US" sz="2600"/>
              <a:t>By position</a:t>
            </a:r>
            <a:endParaRPr sz="2600"/>
          </a:p>
          <a:p>
            <a:pPr marL="457200" lvl="0" indent="-3937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-US" sz="2600"/>
              <a:t>Passing them at runtime</a:t>
            </a:r>
            <a:endParaRPr sz="2600"/>
          </a:p>
          <a:p>
            <a:pPr marL="457200" lvl="0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-US" sz="2600"/>
              <a:t>Splatting</a:t>
            </a:r>
            <a:endParaRPr sz="26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6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/>
              <a:t>Parameters can be Mandatory or Optional.</a:t>
            </a:r>
            <a:endParaRPr sz="26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4"/>
          <p:cNvSpPr/>
          <p:nvPr/>
        </p:nvSpPr>
        <p:spPr>
          <a:xfrm flipH="1">
            <a:off x="-3" y="-1"/>
            <a:ext cx="12192000" cy="15906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2F5496"/>
              </a:gs>
            </a:gsLst>
            <a:lin ang="8400134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4"/>
          <p:cNvSpPr/>
          <p:nvPr/>
        </p:nvSpPr>
        <p:spPr>
          <a:xfrm rot="10800000" flipH="1">
            <a:off x="-3" y="142"/>
            <a:ext cx="8115300" cy="1590600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0000">
                <a:srgbClr val="4472C4">
                  <a:alpha val="0"/>
                </a:srgbClr>
              </a:gs>
              <a:gs pos="100000">
                <a:srgbClr val="1F3864">
                  <a:alpha val="54901"/>
                </a:srgbClr>
              </a:gs>
            </a:gsLst>
            <a:lin ang="1380014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4"/>
          <p:cNvSpPr txBox="1">
            <a:spLocks noGrp="1"/>
          </p:cNvSpPr>
          <p:nvPr>
            <p:ph type="title"/>
          </p:nvPr>
        </p:nvSpPr>
        <p:spPr>
          <a:xfrm>
            <a:off x="1371600" y="347472"/>
            <a:ext cx="10040100" cy="8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Demo </a:t>
            </a:r>
            <a:r>
              <a:rPr lang="en-US" sz="4000">
                <a:solidFill>
                  <a:srgbClr val="FFFFFF"/>
                </a:solidFill>
              </a:rPr>
              <a:t>4 </a:t>
            </a:r>
            <a:r>
              <a:rPr lang="en-US" sz="4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lang="en-US" sz="4000">
                <a:solidFill>
                  <a:srgbClr val="FFFFFF"/>
                </a:solidFill>
              </a:rPr>
              <a:t>Parameters</a:t>
            </a:r>
            <a:endParaRPr/>
          </a:p>
        </p:txBody>
      </p:sp>
      <p:pic>
        <p:nvPicPr>
          <p:cNvPr id="293" name="Google Shape;293;p14" descr="Monitor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4088" y="1966293"/>
            <a:ext cx="4452160" cy="4452160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14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Common Parameters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/>
              <a:t>WhatIf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/>
              <a:t>Confirm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/>
              <a:t>Verbose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Splatting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2"/>
          <p:cNvSpPr/>
          <p:nvPr/>
        </p:nvSpPr>
        <p:spPr>
          <a:xfrm flipH="1">
            <a:off x="-3" y="-1"/>
            <a:ext cx="12192000" cy="15906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2F5496"/>
              </a:gs>
            </a:gsLst>
            <a:lin ang="8400134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2"/>
          <p:cNvSpPr/>
          <p:nvPr/>
        </p:nvSpPr>
        <p:spPr>
          <a:xfrm rot="10800000" flipH="1">
            <a:off x="-3" y="142"/>
            <a:ext cx="8115300" cy="1590600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0000">
                <a:srgbClr val="4472C4">
                  <a:alpha val="0"/>
                </a:srgbClr>
              </a:gs>
              <a:gs pos="100000">
                <a:srgbClr val="1F3864">
                  <a:alpha val="54901"/>
                </a:srgbClr>
              </a:gs>
            </a:gsLst>
            <a:lin ang="1380014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2"/>
          <p:cNvSpPr/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pipeline is a series of commands connected by the “|” symbol.</a:t>
            </a:r>
            <a:br>
              <a:rPr lang="en-US" sz="2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With the pipeline, the output of the first command is passed on to the second command.</a:t>
            </a:r>
            <a:br>
              <a:rPr lang="en-US" sz="2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Most but not all PowerShell and dbatools commands accept pipeline input</a:t>
            </a:r>
            <a:endParaRPr sz="2600" dirty="0"/>
          </a:p>
        </p:txBody>
      </p:sp>
      <p:sp>
        <p:nvSpPr>
          <p:cNvPr id="303" name="Google Shape;303;p12"/>
          <p:cNvSpPr txBox="1">
            <a:spLocks noGrp="1"/>
          </p:cNvSpPr>
          <p:nvPr>
            <p:ph type="title"/>
          </p:nvPr>
        </p:nvSpPr>
        <p:spPr>
          <a:xfrm>
            <a:off x="1371597" y="348865"/>
            <a:ext cx="10044000" cy="8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Pipeline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3"/>
          <p:cNvSpPr/>
          <p:nvPr/>
        </p:nvSpPr>
        <p:spPr>
          <a:xfrm flipH="1">
            <a:off x="-3" y="-1"/>
            <a:ext cx="12192000" cy="15906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2F5496"/>
              </a:gs>
            </a:gsLst>
            <a:lin ang="8400134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3"/>
          <p:cNvSpPr/>
          <p:nvPr/>
        </p:nvSpPr>
        <p:spPr>
          <a:xfrm rot="10800000" flipH="1">
            <a:off x="-3" y="142"/>
            <a:ext cx="8115300" cy="1590600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0000">
                <a:srgbClr val="4472C4">
                  <a:alpha val="0"/>
                </a:srgbClr>
              </a:gs>
              <a:gs pos="100000">
                <a:srgbClr val="1F3864">
                  <a:alpha val="54901"/>
                </a:srgbClr>
              </a:gs>
            </a:gsLst>
            <a:lin ang="1380014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3"/>
          <p:cNvSpPr txBox="1">
            <a:spLocks noGrp="1"/>
          </p:cNvSpPr>
          <p:nvPr>
            <p:ph type="title"/>
          </p:nvPr>
        </p:nvSpPr>
        <p:spPr>
          <a:xfrm>
            <a:off x="1371600" y="347472"/>
            <a:ext cx="10040100" cy="8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Demo </a:t>
            </a:r>
            <a:r>
              <a:rPr lang="en-US" sz="4000">
                <a:solidFill>
                  <a:srgbClr val="FFFFFF"/>
                </a:solidFill>
              </a:rPr>
              <a:t>5 </a:t>
            </a:r>
            <a:r>
              <a:rPr lang="en-US" sz="4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- Pipelining</a:t>
            </a:r>
            <a:endParaRPr/>
          </a:p>
        </p:txBody>
      </p:sp>
      <p:pic>
        <p:nvPicPr>
          <p:cNvPr id="312" name="Google Shape;312;p13" descr="Monitor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4088" y="1966293"/>
            <a:ext cx="4452160" cy="4452160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13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Pipeline examples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212d64ab2ef_1_4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g212d64ab2ef_1_45"/>
          <p:cNvSpPr/>
          <p:nvPr/>
        </p:nvSpPr>
        <p:spPr>
          <a:xfrm flipH="1">
            <a:off x="-3" y="-1"/>
            <a:ext cx="12192000" cy="15906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2F5496"/>
              </a:gs>
            </a:gsLst>
            <a:lin ang="8400134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g212d64ab2ef_1_45"/>
          <p:cNvSpPr/>
          <p:nvPr/>
        </p:nvSpPr>
        <p:spPr>
          <a:xfrm rot="10800000" flipH="1">
            <a:off x="-3" y="142"/>
            <a:ext cx="8115300" cy="1590600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0000">
                <a:srgbClr val="4472C4">
                  <a:alpha val="0"/>
                </a:srgbClr>
              </a:gs>
              <a:gs pos="100000">
                <a:srgbClr val="1F3864">
                  <a:alpha val="54901"/>
                </a:srgbClr>
              </a:gs>
            </a:gsLst>
            <a:lin ang="1380014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g212d64ab2ef_1_45"/>
          <p:cNvSpPr txBox="1">
            <a:spLocks noGrp="1"/>
          </p:cNvSpPr>
          <p:nvPr>
            <p:ph type="title"/>
          </p:nvPr>
        </p:nvSpPr>
        <p:spPr>
          <a:xfrm>
            <a:off x="1371599" y="294538"/>
            <a:ext cx="9896100" cy="103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>
                <a:solidFill>
                  <a:srgbClr val="FFFFFF"/>
                </a:solidFill>
              </a:rPr>
              <a:t>Filtering Output</a:t>
            </a:r>
            <a:endParaRPr/>
          </a:p>
        </p:txBody>
      </p:sp>
      <p:sp>
        <p:nvSpPr>
          <p:cNvPr id="323" name="Google Shape;323;g212d64ab2ef_1_45"/>
          <p:cNvSpPr txBox="1">
            <a:spLocks noGrp="1"/>
          </p:cNvSpPr>
          <p:nvPr>
            <p:ph type="body" idx="1"/>
          </p:nvPr>
        </p:nvSpPr>
        <p:spPr>
          <a:xfrm>
            <a:off x="841248" y="1828800"/>
            <a:ext cx="9723900" cy="368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228600" lvl="0" indent="-101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600"/>
              <a:t>Just like with T-SQL you can limit the output from a function.</a:t>
            </a:r>
            <a:endParaRPr sz="2600"/>
          </a:p>
          <a:p>
            <a:pPr marL="228600" lvl="0" indent="-101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sz="2600"/>
          </a:p>
          <a:p>
            <a:pPr marL="228600" lvl="0" indent="-101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600"/>
              <a:t>You can limit the number of objects returned with the Where-Object function</a:t>
            </a:r>
            <a:endParaRPr sz="2600"/>
          </a:p>
          <a:p>
            <a:pPr marL="228600" lvl="0" indent="-101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sz="2600"/>
          </a:p>
          <a:p>
            <a:pPr marL="228600" lvl="0" indent="-101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600"/>
              <a:t>You can limit the number of properties returned with the Select-Object</a:t>
            </a:r>
            <a:endParaRPr sz="26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5"/>
          <p:cNvSpPr/>
          <p:nvPr/>
        </p:nvSpPr>
        <p:spPr>
          <a:xfrm flipH="1">
            <a:off x="-3" y="-1"/>
            <a:ext cx="12192000" cy="15906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2F5496"/>
              </a:gs>
            </a:gsLst>
            <a:lin ang="8400134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5"/>
          <p:cNvSpPr/>
          <p:nvPr/>
        </p:nvSpPr>
        <p:spPr>
          <a:xfrm rot="10800000" flipH="1">
            <a:off x="-3" y="142"/>
            <a:ext cx="8115300" cy="1590600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0000">
                <a:srgbClr val="4472C4">
                  <a:alpha val="0"/>
                </a:srgbClr>
              </a:gs>
              <a:gs pos="100000">
                <a:srgbClr val="1F3864">
                  <a:alpha val="54901"/>
                </a:srgbClr>
              </a:gs>
            </a:gsLst>
            <a:lin ang="1380014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5"/>
          <p:cNvSpPr txBox="1">
            <a:spLocks noGrp="1"/>
          </p:cNvSpPr>
          <p:nvPr>
            <p:ph type="title"/>
          </p:nvPr>
        </p:nvSpPr>
        <p:spPr>
          <a:xfrm>
            <a:off x="1371600" y="347472"/>
            <a:ext cx="10040100" cy="8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Demo - Filtering Output</a:t>
            </a:r>
            <a:endParaRPr/>
          </a:p>
        </p:txBody>
      </p:sp>
      <p:pic>
        <p:nvPicPr>
          <p:cNvPr id="332" name="Google Shape;332;p15" descr="Monitor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4088" y="1966293"/>
            <a:ext cx="4452160" cy="4452160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1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600"/>
              <a:t>Ways to filter output:</a:t>
            </a:r>
            <a:endParaRPr sz="2600"/>
          </a:p>
          <a:p>
            <a:pPr marL="457200" lvl="0" indent="-393700" algn="l" rtl="0">
              <a:spcBef>
                <a:spcPts val="1000"/>
              </a:spcBef>
              <a:spcAft>
                <a:spcPts val="0"/>
              </a:spcAft>
              <a:buSzPts val="2600"/>
              <a:buChar char="●"/>
            </a:pPr>
            <a:r>
              <a:rPr lang="en-US" sz="2600"/>
              <a:t>Where-Object</a:t>
            </a:r>
            <a:endParaRPr sz="2600"/>
          </a:p>
          <a:p>
            <a:pPr marL="457200" lvl="0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-US" sz="2600"/>
              <a:t>Select-Object</a:t>
            </a:r>
            <a:endParaRPr sz="26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212d64ab2ef_1_3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g212d64ab2ef_1_34"/>
          <p:cNvSpPr/>
          <p:nvPr/>
        </p:nvSpPr>
        <p:spPr>
          <a:xfrm flipH="1">
            <a:off x="-3" y="-1"/>
            <a:ext cx="12192000" cy="15906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2F5496"/>
              </a:gs>
            </a:gsLst>
            <a:lin ang="8400134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g212d64ab2ef_1_34"/>
          <p:cNvSpPr/>
          <p:nvPr/>
        </p:nvSpPr>
        <p:spPr>
          <a:xfrm rot="10800000" flipH="1">
            <a:off x="-3" y="142"/>
            <a:ext cx="8115300" cy="1590600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0000">
                <a:srgbClr val="4472C4">
                  <a:alpha val="0"/>
                </a:srgbClr>
              </a:gs>
              <a:gs pos="100000">
                <a:srgbClr val="1F3864">
                  <a:alpha val="54901"/>
                </a:srgbClr>
              </a:gs>
            </a:gsLst>
            <a:lin ang="1380014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g212d64ab2ef_1_34"/>
          <p:cNvSpPr txBox="1">
            <a:spLocks noGrp="1"/>
          </p:cNvSpPr>
          <p:nvPr>
            <p:ph type="title"/>
          </p:nvPr>
        </p:nvSpPr>
        <p:spPr>
          <a:xfrm>
            <a:off x="1371599" y="294538"/>
            <a:ext cx="9896100" cy="103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>
                <a:solidFill>
                  <a:srgbClr val="FFFFFF"/>
                </a:solidFill>
              </a:rPr>
              <a:t>Formatting Output</a:t>
            </a:r>
            <a:endParaRPr/>
          </a:p>
        </p:txBody>
      </p:sp>
      <p:sp>
        <p:nvSpPr>
          <p:cNvPr id="343" name="Google Shape;343;g212d64ab2ef_1_34"/>
          <p:cNvSpPr txBox="1">
            <a:spLocks noGrp="1"/>
          </p:cNvSpPr>
          <p:nvPr>
            <p:ph type="body" idx="1"/>
          </p:nvPr>
        </p:nvSpPr>
        <p:spPr>
          <a:xfrm>
            <a:off x="1371599" y="2318197"/>
            <a:ext cx="9723900" cy="368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228600" lvl="0" indent="-101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600"/>
              <a:t>Multiple ways to format the output from a function</a:t>
            </a:r>
            <a:endParaRPr sz="2600"/>
          </a:p>
          <a:p>
            <a:pPr marL="228600" lvl="0" indent="-101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sz="2600"/>
          </a:p>
          <a:p>
            <a:pPr marL="457200" lvl="0" indent="-393700" algn="l" rtl="0">
              <a:spcBef>
                <a:spcPts val="1000"/>
              </a:spcBef>
              <a:spcAft>
                <a:spcPts val="0"/>
              </a:spcAft>
              <a:buSzPts val="2600"/>
              <a:buChar char="●"/>
            </a:pPr>
            <a:r>
              <a:rPr lang="en-US" sz="2600"/>
              <a:t>Format-List</a:t>
            </a:r>
            <a:endParaRPr sz="2600"/>
          </a:p>
          <a:p>
            <a:pPr marL="457200" lvl="0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-US" sz="2600"/>
              <a:t>Format-Table</a:t>
            </a:r>
            <a:endParaRPr sz="2600"/>
          </a:p>
          <a:p>
            <a:pPr marL="457200" lvl="0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-US" sz="2600"/>
              <a:t>Out-Gridview</a:t>
            </a:r>
            <a:endParaRPr sz="2600"/>
          </a:p>
          <a:p>
            <a:pPr marL="457200" lvl="0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-US" sz="2600"/>
              <a:t>Write-Out</a:t>
            </a:r>
            <a:endParaRPr sz="2600"/>
          </a:p>
          <a:p>
            <a:pPr marL="457200" lvl="0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-US" sz="2600"/>
              <a:t>Write-Verbose</a:t>
            </a:r>
            <a:endParaRPr sz="26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6"/>
          <p:cNvSpPr/>
          <p:nvPr/>
        </p:nvSpPr>
        <p:spPr>
          <a:xfrm flipH="1">
            <a:off x="-3" y="-1"/>
            <a:ext cx="12192000" cy="15906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2F5496"/>
              </a:gs>
            </a:gsLst>
            <a:lin ang="8400134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6"/>
          <p:cNvSpPr/>
          <p:nvPr/>
        </p:nvSpPr>
        <p:spPr>
          <a:xfrm rot="10800000" flipH="1">
            <a:off x="-3" y="142"/>
            <a:ext cx="8115300" cy="1590600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0000">
                <a:srgbClr val="4472C4">
                  <a:alpha val="0"/>
                </a:srgbClr>
              </a:gs>
              <a:gs pos="100000">
                <a:srgbClr val="1F3864">
                  <a:alpha val="54901"/>
                </a:srgbClr>
              </a:gs>
            </a:gsLst>
            <a:lin ang="1380014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6"/>
          <p:cNvSpPr txBox="1">
            <a:spLocks noGrp="1"/>
          </p:cNvSpPr>
          <p:nvPr>
            <p:ph type="title"/>
          </p:nvPr>
        </p:nvSpPr>
        <p:spPr>
          <a:xfrm>
            <a:off x="1371600" y="347472"/>
            <a:ext cx="10040100" cy="8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Demo - Formatting Output</a:t>
            </a:r>
            <a:endParaRPr/>
          </a:p>
        </p:txBody>
      </p:sp>
      <p:pic>
        <p:nvPicPr>
          <p:cNvPr id="352" name="Google Shape;352;p16" descr="Monitor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4088" y="1966293"/>
            <a:ext cx="4452160" cy="4452160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1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Ways to format the object:</a:t>
            </a:r>
            <a:endParaRPr/>
          </a:p>
          <a:p>
            <a:pPr marL="4572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Sort-Object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Format-List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Format-Table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Out-Gridview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Write-Out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Write-Verbose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212d64ab2ef_1_2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g212d64ab2ef_1_23"/>
          <p:cNvSpPr/>
          <p:nvPr/>
        </p:nvSpPr>
        <p:spPr>
          <a:xfrm flipH="1">
            <a:off x="-3" y="-1"/>
            <a:ext cx="12192000" cy="15906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2F5496"/>
              </a:gs>
            </a:gsLst>
            <a:lin ang="8400134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g212d64ab2ef_1_23"/>
          <p:cNvSpPr/>
          <p:nvPr/>
        </p:nvSpPr>
        <p:spPr>
          <a:xfrm rot="10800000" flipH="1">
            <a:off x="-3" y="142"/>
            <a:ext cx="8115300" cy="1590600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0000">
                <a:srgbClr val="4472C4">
                  <a:alpha val="0"/>
                </a:srgbClr>
              </a:gs>
              <a:gs pos="100000">
                <a:srgbClr val="1F3864">
                  <a:alpha val="54901"/>
                </a:srgbClr>
              </a:gs>
            </a:gsLst>
            <a:lin ang="1380014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g212d64ab2ef_1_23"/>
          <p:cNvSpPr txBox="1">
            <a:spLocks noGrp="1"/>
          </p:cNvSpPr>
          <p:nvPr>
            <p:ph type="title"/>
          </p:nvPr>
        </p:nvSpPr>
        <p:spPr>
          <a:xfrm>
            <a:off x="1371599" y="294538"/>
            <a:ext cx="9896100" cy="103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>
                <a:solidFill>
                  <a:srgbClr val="FFFFFF"/>
                </a:solidFill>
              </a:rPr>
              <a:t>Looping</a:t>
            </a:r>
            <a:endParaRPr/>
          </a:p>
        </p:txBody>
      </p:sp>
      <p:sp>
        <p:nvSpPr>
          <p:cNvPr id="363" name="Google Shape;363;g212d64ab2ef_1_23"/>
          <p:cNvSpPr txBox="1">
            <a:spLocks noGrp="1"/>
          </p:cNvSpPr>
          <p:nvPr>
            <p:ph type="body" idx="1"/>
          </p:nvPr>
        </p:nvSpPr>
        <p:spPr>
          <a:xfrm>
            <a:off x="1371599" y="2318197"/>
            <a:ext cx="9723900" cy="368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228600" lvl="0" indent="-101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dirty="0"/>
              <a:t>Just like most programming languages, you can write loops in PowerShell.</a:t>
            </a:r>
            <a:endParaRPr sz="2000" dirty="0"/>
          </a:p>
          <a:p>
            <a:pPr marL="228600" lvl="0" indent="-101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dirty="0"/>
              <a:t>There’s 4 basic types of loops </a:t>
            </a:r>
            <a:endParaRPr sz="2000" dirty="0"/>
          </a:p>
          <a:p>
            <a:pPr marL="457200" lvl="0" indent="-355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 dirty="0"/>
              <a:t>For - for looping with a built-in counter</a:t>
            </a:r>
            <a:endParaRPr sz="2000" dirty="0"/>
          </a:p>
          <a:p>
            <a:pPr marL="457200" lvl="0" indent="-355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 dirty="0"/>
              <a:t>Foreach (x in y) - for looping through a collection or array</a:t>
            </a:r>
            <a:endParaRPr sz="2000" dirty="0"/>
          </a:p>
          <a:p>
            <a:pPr marL="457200" lvl="0" indent="-355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 dirty="0"/>
              <a:t>Do &amp; While - Repeats until a condition is true.</a:t>
            </a:r>
            <a:endParaRPr sz="2000" dirty="0"/>
          </a:p>
          <a:p>
            <a:pPr marL="228600" lvl="0" indent="-101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sz="2000" dirty="0"/>
          </a:p>
          <a:p>
            <a:pPr marL="228600" lvl="0" indent="-101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dirty="0"/>
              <a:t>And </a:t>
            </a:r>
            <a:r>
              <a:rPr lang="en-US" sz="2000" dirty="0" err="1"/>
              <a:t>and</a:t>
            </a:r>
            <a:r>
              <a:rPr lang="en-US" sz="2000" dirty="0"/>
              <a:t> one that you can use with pipelines:</a:t>
            </a:r>
            <a:endParaRPr sz="2000" dirty="0"/>
          </a:p>
          <a:p>
            <a:pPr marL="457200" lvl="0" indent="-355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 dirty="0"/>
              <a:t>Foreach-Object</a:t>
            </a:r>
            <a:endParaRPr sz="2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1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8"/>
          <p:cNvSpPr/>
          <p:nvPr/>
        </p:nvSpPr>
        <p:spPr>
          <a:xfrm flipH="1">
            <a:off x="-3" y="-1"/>
            <a:ext cx="12192000" cy="15906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2F5496"/>
              </a:gs>
            </a:gsLst>
            <a:lin ang="8400134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8"/>
          <p:cNvSpPr/>
          <p:nvPr/>
        </p:nvSpPr>
        <p:spPr>
          <a:xfrm rot="10800000" flipH="1">
            <a:off x="-3" y="142"/>
            <a:ext cx="8115300" cy="1590600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0000">
                <a:srgbClr val="4472C4">
                  <a:alpha val="0"/>
                </a:srgbClr>
              </a:gs>
              <a:gs pos="100000">
                <a:srgbClr val="1F3864">
                  <a:alpha val="54901"/>
                </a:srgbClr>
              </a:gs>
            </a:gsLst>
            <a:lin ang="1380014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8"/>
          <p:cNvSpPr txBox="1">
            <a:spLocks noGrp="1"/>
          </p:cNvSpPr>
          <p:nvPr>
            <p:ph type="title"/>
          </p:nvPr>
        </p:nvSpPr>
        <p:spPr>
          <a:xfrm>
            <a:off x="1371600" y="347472"/>
            <a:ext cx="7063800" cy="8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Demo – </a:t>
            </a:r>
            <a:r>
              <a:rPr lang="en-US" sz="4000">
                <a:solidFill>
                  <a:srgbClr val="FFFFFF"/>
                </a:solidFill>
              </a:rPr>
              <a:t>Loops</a:t>
            </a:r>
            <a:endParaRPr/>
          </a:p>
        </p:txBody>
      </p:sp>
      <p:pic>
        <p:nvPicPr>
          <p:cNvPr id="373" name="Google Shape;373;p18" descr="Monitor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713" y="1966293"/>
            <a:ext cx="4452160" cy="4452160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18"/>
          <p:cNvSpPr txBox="1"/>
          <p:nvPr/>
        </p:nvSpPr>
        <p:spPr>
          <a:xfrm>
            <a:off x="5920820" y="2112579"/>
            <a:ext cx="4872919" cy="43058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4"/>
              <a:buFont typeface="Arial"/>
              <a:buNone/>
            </a:pPr>
            <a:r>
              <a:rPr lang="en-US" sz="2604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Looping methods</a:t>
            </a:r>
            <a:r>
              <a:rPr lang="en-US" sz="2604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dirty="0"/>
          </a:p>
          <a:p>
            <a:pPr marL="228600" marR="0" lvl="0" indent="-228600" algn="l" rtl="0">
              <a:lnSpc>
                <a:spcPct val="90000"/>
              </a:lnSpc>
              <a:spcBef>
                <a:spcPts val="930"/>
              </a:spcBef>
              <a:spcAft>
                <a:spcPts val="0"/>
              </a:spcAft>
              <a:buClr>
                <a:schemeClr val="dk1"/>
              </a:buClr>
              <a:buSzPts val="2604"/>
              <a:buFont typeface="Arial"/>
              <a:buChar char="•"/>
            </a:pPr>
            <a:r>
              <a:rPr lang="en-US" sz="2604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</a:t>
            </a:r>
            <a:endParaRPr sz="2604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930"/>
              </a:spcBef>
              <a:spcAft>
                <a:spcPts val="0"/>
              </a:spcAft>
              <a:buClr>
                <a:schemeClr val="dk1"/>
              </a:buClr>
              <a:buSzPts val="2604"/>
              <a:buFont typeface="Calibri"/>
              <a:buChar char="•"/>
            </a:pPr>
            <a:r>
              <a:rPr lang="en-US" sz="2604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Foreach (x in y)</a:t>
            </a:r>
            <a:endParaRPr sz="2604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930"/>
              </a:spcBef>
              <a:spcAft>
                <a:spcPts val="0"/>
              </a:spcAft>
              <a:buClr>
                <a:schemeClr val="dk1"/>
              </a:buClr>
              <a:buSzPts val="2604"/>
              <a:buFont typeface="Calibri"/>
              <a:buChar char="•"/>
            </a:pPr>
            <a:r>
              <a:rPr lang="en-US" sz="2604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Foreach-Object</a:t>
            </a:r>
            <a:endParaRPr sz="2604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930"/>
              </a:spcBef>
              <a:spcAft>
                <a:spcPts val="0"/>
              </a:spcAft>
              <a:buClr>
                <a:schemeClr val="dk1"/>
              </a:buClr>
              <a:buSzPts val="2604"/>
              <a:buFont typeface="Calibri"/>
              <a:buChar char="•"/>
            </a:pPr>
            <a:r>
              <a:rPr lang="en-US" sz="2604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Do/While or Do/Until</a:t>
            </a:r>
            <a:endParaRPr sz="2604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930"/>
              </a:spcBef>
              <a:spcAft>
                <a:spcPts val="0"/>
              </a:spcAft>
              <a:buClr>
                <a:schemeClr val="dk1"/>
              </a:buClr>
              <a:buSzPts val="2604"/>
              <a:buFont typeface="Calibri"/>
              <a:buChar char="•"/>
            </a:pPr>
            <a:r>
              <a:rPr lang="en-US" sz="2604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While</a:t>
            </a:r>
            <a:endParaRPr sz="2604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930"/>
              </a:spcBef>
              <a:spcAft>
                <a:spcPts val="0"/>
              </a:spcAft>
              <a:buNone/>
            </a:pPr>
            <a:r>
              <a:rPr lang="en-US" sz="2604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Loop Control:</a:t>
            </a:r>
          </a:p>
          <a:p>
            <a:pPr marL="457200" marR="0" lvl="0" indent="-457200" algn="l" rtl="0">
              <a:lnSpc>
                <a:spcPct val="90000"/>
              </a:lnSpc>
              <a:spcBef>
                <a:spcPts val="93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604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Break</a:t>
            </a:r>
          </a:p>
          <a:p>
            <a:pPr marL="457200" marR="0" lvl="0" indent="-457200" algn="l" rtl="0">
              <a:lnSpc>
                <a:spcPct val="90000"/>
              </a:lnSpc>
              <a:spcBef>
                <a:spcPts val="93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604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Continue</a:t>
            </a:r>
            <a:endParaRPr sz="2604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9"/>
          <p:cNvSpPr/>
          <p:nvPr/>
        </p:nvSpPr>
        <p:spPr>
          <a:xfrm flipH="1">
            <a:off x="-3" y="-1"/>
            <a:ext cx="12192000" cy="15906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2F5496"/>
              </a:gs>
            </a:gsLst>
            <a:lin ang="8400134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9"/>
          <p:cNvSpPr/>
          <p:nvPr/>
        </p:nvSpPr>
        <p:spPr>
          <a:xfrm rot="10800000" flipH="1">
            <a:off x="-3" y="142"/>
            <a:ext cx="8115300" cy="1590600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0000">
                <a:srgbClr val="4472C4">
                  <a:alpha val="0"/>
                </a:srgbClr>
              </a:gs>
              <a:gs pos="100000">
                <a:srgbClr val="1F3864">
                  <a:alpha val="54901"/>
                </a:srgbClr>
              </a:gs>
            </a:gsLst>
            <a:lin ang="1380014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9"/>
          <p:cNvSpPr txBox="1"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>
                <a:solidFill>
                  <a:srgbClr val="FFFFFF"/>
                </a:solidFill>
              </a:rPr>
              <a:t>Resources</a:t>
            </a:r>
            <a:endParaRPr/>
          </a:p>
        </p:txBody>
      </p:sp>
      <p:sp>
        <p:nvSpPr>
          <p:cNvPr id="384" name="Google Shape;384;p19"/>
          <p:cNvSpPr txBox="1">
            <a:spLocks noGrp="1"/>
          </p:cNvSpPr>
          <p:nvPr>
            <p:ph type="body" idx="1"/>
          </p:nvPr>
        </p:nvSpPr>
        <p:spPr>
          <a:xfrm>
            <a:off x="1371599" y="2318197"/>
            <a:ext cx="9724031" cy="3683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 u="sng" dirty="0" err="1">
                <a:latin typeface="Arial"/>
                <a:ea typeface="Arial"/>
                <a:cs typeface="Arial"/>
                <a:sym typeface="Arial"/>
              </a:rPr>
              <a:t>Powershell</a:t>
            </a:r>
            <a:r>
              <a:rPr lang="en-US" sz="2000" u="sng" dirty="0">
                <a:latin typeface="Arial"/>
                <a:ea typeface="Arial"/>
                <a:cs typeface="Arial"/>
                <a:sym typeface="Arial"/>
              </a:rPr>
              <a:t> Gallery</a:t>
            </a:r>
            <a:br>
              <a:rPr lang="en-US" sz="2000" u="sng" dirty="0">
                <a:latin typeface="Arial"/>
                <a:ea typeface="Arial"/>
                <a:cs typeface="Arial"/>
                <a:sym typeface="Arial"/>
              </a:rPr>
            </a:br>
            <a:r>
              <a:rPr lang="en-US" sz="2000" u="sng" dirty="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https://www.powershellgallery.com/</a:t>
            </a:r>
            <a:br>
              <a:rPr lang="en-US" sz="2000" u="sng" dirty="0">
                <a:latin typeface="Arial"/>
                <a:ea typeface="Arial"/>
                <a:cs typeface="Arial"/>
                <a:sym typeface="Arial"/>
              </a:rPr>
            </a:br>
            <a:endParaRPr sz="2000" u="sng" dirty="0">
              <a:latin typeface="Arial"/>
              <a:ea typeface="Arial"/>
              <a:cs typeface="Arial"/>
              <a:sym typeface="Arial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 b="0" i="0" u="sng" strike="noStrike" dirty="0">
                <a:latin typeface="Arial"/>
                <a:ea typeface="Arial"/>
                <a:cs typeface="Arial"/>
                <a:sym typeface="Arial"/>
              </a:rPr>
              <a:t>Microsoft </a:t>
            </a:r>
            <a:r>
              <a:rPr lang="en-US" sz="2000" b="0" i="0" u="sng" strike="noStrike" dirty="0" err="1">
                <a:latin typeface="Arial"/>
                <a:ea typeface="Arial"/>
                <a:cs typeface="Arial"/>
                <a:sym typeface="Arial"/>
              </a:rPr>
              <a:t>Powershell</a:t>
            </a:r>
            <a:r>
              <a:rPr lang="en-US" sz="2000" b="0" i="0" u="sng" strike="noStrike" dirty="0">
                <a:latin typeface="Arial"/>
                <a:ea typeface="Arial"/>
                <a:cs typeface="Arial"/>
                <a:sym typeface="Arial"/>
              </a:rPr>
              <a:t> Documentation</a:t>
            </a:r>
            <a:br>
              <a:rPr lang="en-US" sz="2000" b="0" i="0" u="sng" strike="noStrike" dirty="0">
                <a:latin typeface="Arial"/>
                <a:ea typeface="Arial"/>
                <a:cs typeface="Arial"/>
                <a:sym typeface="Arial"/>
              </a:rPr>
            </a:br>
            <a:r>
              <a:rPr lang="en-US" sz="2000" b="0" i="0" u="sng" strike="noStrike" dirty="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https://learn.microsoft.com/en-us/powershell/scripting/learn/ps101/00-introduction</a:t>
            </a:r>
            <a:br>
              <a:rPr lang="en-US" sz="2000" b="0" i="0" u="sng" strike="noStrike" dirty="0">
                <a:latin typeface="Arial"/>
                <a:ea typeface="Arial"/>
                <a:cs typeface="Arial"/>
                <a:sym typeface="Arial"/>
              </a:rPr>
            </a:br>
            <a:endParaRPr sz="2000" b="0" i="0" u="sng" strike="noStrike" dirty="0">
              <a:latin typeface="Arial"/>
              <a:ea typeface="Arial"/>
              <a:cs typeface="Arial"/>
              <a:sym typeface="Arial"/>
            </a:endParaRPr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dbatools </a:t>
            </a:r>
            <a:br>
              <a:rPr lang="en-US" sz="2000" dirty="0">
                <a:latin typeface="Arial"/>
                <a:ea typeface="Arial"/>
                <a:cs typeface="Arial"/>
                <a:sym typeface="Arial"/>
              </a:rPr>
            </a:br>
            <a:r>
              <a:rPr lang="en-US" sz="2000" u="sng" dirty="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https://dbatools.io/</a:t>
            </a:r>
            <a:endParaRPr lang="en-US" sz="2000" u="sng" dirty="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endParaRPr lang="en-US" sz="2000" u="sng" dirty="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lvl="0" indent="-228600">
              <a:spcBef>
                <a:spcPts val="0"/>
              </a:spcBef>
              <a:buSzPts val="2000"/>
            </a:pPr>
            <a:r>
              <a:rPr lang="en-US" sz="2000" dirty="0">
                <a:latin typeface="Arial"/>
                <a:cs typeface="Arial"/>
                <a:sym typeface="Arial"/>
              </a:rPr>
              <a:t>Slides and Demos</a:t>
            </a:r>
            <a:br>
              <a:rPr lang="en-US" sz="2000" u="sng" dirty="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000" dirty="0">
                <a:hlinkClick r:id="rId6"/>
              </a:rPr>
              <a:t>https://github.com/TonyWSQL</a:t>
            </a:r>
            <a:endParaRPr lang="en-US" sz="2000" u="sng" dirty="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endParaRPr sz="2000" dirty="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9"/>
          <p:cNvSpPr/>
          <p:nvPr/>
        </p:nvSpPr>
        <p:spPr>
          <a:xfrm flipH="1">
            <a:off x="-3" y="-1"/>
            <a:ext cx="12192000" cy="15906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2F5496"/>
              </a:gs>
            </a:gsLst>
            <a:lin ang="8400134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9"/>
          <p:cNvSpPr/>
          <p:nvPr/>
        </p:nvSpPr>
        <p:spPr>
          <a:xfrm rot="10800000" flipH="1">
            <a:off x="-3" y="142"/>
            <a:ext cx="8115300" cy="1590600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0000">
                <a:srgbClr val="4472C4">
                  <a:alpha val="0"/>
                </a:srgbClr>
              </a:gs>
              <a:gs pos="100000">
                <a:srgbClr val="1F3864">
                  <a:alpha val="54901"/>
                </a:srgbClr>
              </a:gs>
            </a:gsLst>
            <a:lin ang="1380014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9"/>
          <p:cNvSpPr txBox="1"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 dirty="0">
                <a:solidFill>
                  <a:srgbClr val="FFFFFF"/>
                </a:solidFill>
              </a:rPr>
              <a:t>Thank You</a:t>
            </a:r>
            <a:endParaRPr dirty="0"/>
          </a:p>
        </p:txBody>
      </p:sp>
      <p:sp>
        <p:nvSpPr>
          <p:cNvPr id="384" name="Google Shape;384;p19"/>
          <p:cNvSpPr txBox="1">
            <a:spLocks noGrp="1"/>
          </p:cNvSpPr>
          <p:nvPr>
            <p:ph type="body" idx="1"/>
          </p:nvPr>
        </p:nvSpPr>
        <p:spPr>
          <a:xfrm>
            <a:off x="1371599" y="2318197"/>
            <a:ext cx="9724031" cy="3683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4000" dirty="0">
                <a:latin typeface="Arial"/>
                <a:ea typeface="Arial"/>
                <a:cs typeface="Arial"/>
                <a:sym typeface="Arial"/>
              </a:rPr>
              <a:t>Questions ?</a:t>
            </a:r>
            <a:endParaRPr sz="4000" dirty="0"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405946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617</TotalTime>
  <Words>804</Words>
  <Application>Microsoft Office PowerPoint</Application>
  <PresentationFormat>Widescreen</PresentationFormat>
  <Paragraphs>184</Paragraphs>
  <Slides>25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Calibri</vt:lpstr>
      <vt:lpstr>Arial</vt:lpstr>
      <vt:lpstr>Roboto</vt:lpstr>
      <vt:lpstr>Office Theme</vt:lpstr>
      <vt:lpstr>Intro to PowerShell  with dbatools  for the DBA</vt:lpstr>
      <vt:lpstr>Tony Wilhelm</vt:lpstr>
      <vt:lpstr>Thank You to Our Sponsors!</vt:lpstr>
      <vt:lpstr>“Everyone has too much to do today, and you can never reuse a click” </vt:lpstr>
      <vt:lpstr>History of Powershell</vt:lpstr>
      <vt:lpstr>History of dbatools</vt:lpstr>
      <vt:lpstr>Powershell Concepts</vt:lpstr>
      <vt:lpstr>Commenting</vt:lpstr>
      <vt:lpstr>Demo 1 - Commenting</vt:lpstr>
      <vt:lpstr>Variables</vt:lpstr>
      <vt:lpstr>Demo 2 - Variables</vt:lpstr>
      <vt:lpstr>Modules</vt:lpstr>
      <vt:lpstr>Demo 3 – Modules</vt:lpstr>
      <vt:lpstr>Parameters</vt:lpstr>
      <vt:lpstr>Demo 4 - Parameters</vt:lpstr>
      <vt:lpstr>Pipeline</vt:lpstr>
      <vt:lpstr>Demo 5 - Pipelining</vt:lpstr>
      <vt:lpstr>Filtering Output</vt:lpstr>
      <vt:lpstr>Demo - Filtering Output</vt:lpstr>
      <vt:lpstr>Formatting Output</vt:lpstr>
      <vt:lpstr>Demo - Formatting Output</vt:lpstr>
      <vt:lpstr>Looping</vt:lpstr>
      <vt:lpstr>Demo – Loops</vt:lpstr>
      <vt:lpstr>Resources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 to PowerShell  with dbatools  for the DBA</dc:title>
  <dc:creator>Anthony (Tony) Wilhelm</dc:creator>
  <cp:lastModifiedBy>Anthony (Tony) Wilhelm</cp:lastModifiedBy>
  <cp:revision>6</cp:revision>
  <dcterms:created xsi:type="dcterms:W3CDTF">2023-03-24T20:07:07Z</dcterms:created>
  <dcterms:modified xsi:type="dcterms:W3CDTF">2026-08-04T18:11:59Z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0ee06db-1980-431f-9f40-cfc6bed7e768_Enabled">
    <vt:lpwstr>true</vt:lpwstr>
  </property>
  <property fmtid="{D5CDD505-2E9C-101B-9397-08002B2CF9AE}" pid="3" name="MSIP_Label_e0ee06db-1980-431f-9f40-cfc6bed7e768_SetDate">
    <vt:lpwstr>2023-03-24T20:07:29Z</vt:lpwstr>
  </property>
  <property fmtid="{D5CDD505-2E9C-101B-9397-08002B2CF9AE}" pid="4" name="MSIP_Label_e0ee06db-1980-431f-9f40-cfc6bed7e768_Method">
    <vt:lpwstr>Standard</vt:lpwstr>
  </property>
  <property fmtid="{D5CDD505-2E9C-101B-9397-08002B2CF9AE}" pid="5" name="MSIP_Label_e0ee06db-1980-431f-9f40-cfc6bed7e768_Name">
    <vt:lpwstr>Public</vt:lpwstr>
  </property>
  <property fmtid="{D5CDD505-2E9C-101B-9397-08002B2CF9AE}" pid="6" name="MSIP_Label_e0ee06db-1980-431f-9f40-cfc6bed7e768_SiteId">
    <vt:lpwstr>e75b8cf2-b242-41b0-8378-a3862dd6f0f4</vt:lpwstr>
  </property>
  <property fmtid="{D5CDD505-2E9C-101B-9397-08002B2CF9AE}" pid="7" name="MSIP_Label_e0ee06db-1980-431f-9f40-cfc6bed7e768_ActionId">
    <vt:lpwstr>bc49ab0c-0b9a-426e-95a6-77a04dcfa7bc</vt:lpwstr>
  </property>
  <property fmtid="{D5CDD505-2E9C-101B-9397-08002B2CF9AE}" pid="8" name="MSIP_Label_e0ee06db-1980-431f-9f40-cfc6bed7e768_ContentBits">
    <vt:lpwstr>0</vt:lpwstr>
  </property>
</Properties>
</file>