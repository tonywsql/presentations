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ObtSRP4Y3aSux5NQfV29+0LOS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Shore" initials="" lastIdx="4" clrIdx="0"/>
  <p:cmAuthor id="1" name="Tony Wilhelm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undo custSel addSld delSld modSld sldOrd delMainMaster">
      <pc:chgData name="Anthony (Tony) Wilhelm" userId="111808ec-cec1-4bb5-b99a-563afe69ab96" providerId="ADAL" clId="{72BD8168-86F3-43FC-B709-0507F7810D7D}" dt="2026-05-23T01:35:04.656" v="280" actId="1076"/>
      <pc:docMkLst>
        <pc:docMk/>
      </pc:docMkLst>
      <pc:sldChg chg="addSp modSp mod">
        <pc:chgData name="Anthony (Tony) Wilhelm" userId="111808ec-cec1-4bb5-b99a-563afe69ab96" providerId="ADAL" clId="{72BD8168-86F3-43FC-B709-0507F7810D7D}" dt="2026-05-23T01:35:04.656" v="280" actId="1076"/>
        <pc:sldMkLst>
          <pc:docMk/>
          <pc:sldMk cId="0" sldId="263"/>
        </pc:sldMkLst>
        <pc:spChg chg="mod">
          <ac:chgData name="Anthony (Tony) Wilhelm" userId="111808ec-cec1-4bb5-b99a-563afe69ab96" providerId="ADAL" clId="{72BD8168-86F3-43FC-B709-0507F7810D7D}" dt="2026-05-20T21:12:15.774" v="240" actId="1076"/>
          <ac:spMkLst>
            <pc:docMk/>
            <pc:sldMk cId="0" sldId="263"/>
            <ac:spMk id="140" creationId="{00000000-0000-0000-0000-000000000000}"/>
          </ac:spMkLst>
        </pc:spChg>
        <pc:picChg chg="add mod">
          <ac:chgData name="Anthony (Tony) Wilhelm" userId="111808ec-cec1-4bb5-b99a-563afe69ab96" providerId="ADAL" clId="{72BD8168-86F3-43FC-B709-0507F7810D7D}" dt="2026-05-23T01:34:58.614" v="279" actId="1076"/>
          <ac:picMkLst>
            <pc:docMk/>
            <pc:sldMk cId="0" sldId="263"/>
            <ac:picMk id="3" creationId="{231BA57F-A3D9-C256-0007-A0C9EB442804}"/>
          </ac:picMkLst>
        </pc:picChg>
        <pc:picChg chg="mod">
          <ac:chgData name="Anthony (Tony) Wilhelm" userId="111808ec-cec1-4bb5-b99a-563afe69ab96" providerId="ADAL" clId="{72BD8168-86F3-43FC-B709-0507F7810D7D}" dt="2026-05-23T01:35:04.656" v="280" actId="1076"/>
          <ac:picMkLst>
            <pc:docMk/>
            <pc:sldMk cId="0" sldId="263"/>
            <ac:picMk id="141" creationId="{00000000-0000-0000-0000-000000000000}"/>
          </ac:picMkLst>
        </pc:picChg>
        <pc:picChg chg="mod">
          <ac:chgData name="Anthony (Tony) Wilhelm" userId="111808ec-cec1-4bb5-b99a-563afe69ab96" providerId="ADAL" clId="{72BD8168-86F3-43FC-B709-0507F7810D7D}" dt="2026-05-20T21:12:15.774" v="240" actId="1076"/>
          <ac:picMkLst>
            <pc:docMk/>
            <pc:sldMk cId="0" sldId="263"/>
            <ac:picMk id="1026" creationId="{77A8FF47-810A-F7F2-B2E9-AFB6E362A2BC}"/>
          </ac:picMkLst>
        </pc:picChg>
        <pc:picChg chg="mod">
          <ac:chgData name="Anthony (Tony) Wilhelm" userId="111808ec-cec1-4bb5-b99a-563afe69ab96" providerId="ADAL" clId="{72BD8168-86F3-43FC-B709-0507F7810D7D}" dt="2026-05-20T21:12:15.774" v="240" actId="1076"/>
          <ac:picMkLst>
            <pc:docMk/>
            <pc:sldMk cId="0" sldId="263"/>
            <ac:picMk id="1030" creationId="{7C9BD6B7-44DA-5C3C-E60A-E46FD371FB12}"/>
          </ac:picMkLst>
        </pc:picChg>
        <pc:picChg chg="mod">
          <ac:chgData name="Anthony (Tony) Wilhelm" userId="111808ec-cec1-4bb5-b99a-563afe69ab96" providerId="ADAL" clId="{72BD8168-86F3-43FC-B709-0507F7810D7D}" dt="2026-05-20T21:12:15.774" v="240" actId="1076"/>
          <ac:picMkLst>
            <pc:docMk/>
            <pc:sldMk cId="0" sldId="263"/>
            <ac:picMk id="1032" creationId="{BF886A15-8696-37A6-4205-45F2E8AB5658}"/>
          </ac:picMkLst>
        </pc:picChg>
      </pc:sldChg>
      <pc:sldChg chg="modSp mod">
        <pc:chgData name="Anthony (Tony) Wilhelm" userId="111808ec-cec1-4bb5-b99a-563afe69ab96" providerId="ADAL" clId="{72BD8168-86F3-43FC-B709-0507F7810D7D}" dt="2026-05-13T16:23:05.840" v="175" actId="20577"/>
        <pc:sldMkLst>
          <pc:docMk/>
          <pc:sldMk cId="0" sldId="265"/>
        </pc:sldMkLst>
        <pc:spChg chg="mod">
          <ac:chgData name="Anthony (Tony) Wilhelm" userId="111808ec-cec1-4bb5-b99a-563afe69ab96" providerId="ADAL" clId="{72BD8168-86F3-43FC-B709-0507F7810D7D}" dt="2026-05-13T16:23:05.840" v="175" actId="20577"/>
          <ac:spMkLst>
            <pc:docMk/>
            <pc:sldMk cId="0" sldId="265"/>
            <ac:spMk id="165" creationId="{00000000-0000-0000-0000-000000000000}"/>
          </ac:spMkLst>
        </pc:spChg>
      </pc:sldChg>
      <pc:sldChg chg="modSp mod">
        <pc:chgData name="Anthony (Tony) Wilhelm" userId="111808ec-cec1-4bb5-b99a-563afe69ab96" providerId="ADAL" clId="{72BD8168-86F3-43FC-B709-0507F7810D7D}" dt="2026-05-13T16:24:28.268" v="231" actId="20577"/>
        <pc:sldMkLst>
          <pc:docMk/>
          <pc:sldMk cId="0" sldId="266"/>
        </pc:sldMkLst>
        <pc:spChg chg="mod">
          <ac:chgData name="Anthony (Tony) Wilhelm" userId="111808ec-cec1-4bb5-b99a-563afe69ab96" providerId="ADAL" clId="{72BD8168-86F3-43FC-B709-0507F7810D7D}" dt="2026-05-13T16:24:28.268" v="231" actId="20577"/>
          <ac:spMkLst>
            <pc:docMk/>
            <pc:sldMk cId="0" sldId="266"/>
            <ac:spMk id="176" creationId="{00000000-0000-0000-0000-000000000000}"/>
          </ac:spMkLst>
        </pc:spChg>
      </pc:sldChg>
      <pc:sldChg chg="modSp mod">
        <pc:chgData name="Anthony (Tony) Wilhelm" userId="111808ec-cec1-4bb5-b99a-563afe69ab96" providerId="ADAL" clId="{72BD8168-86F3-43FC-B709-0507F7810D7D}" dt="2026-05-13T16:22:14.022" v="161" actId="400"/>
        <pc:sldMkLst>
          <pc:docMk/>
          <pc:sldMk cId="0" sldId="272"/>
        </pc:sldMkLst>
        <pc:spChg chg="mod">
          <ac:chgData name="Anthony (Tony) Wilhelm" userId="111808ec-cec1-4bb5-b99a-563afe69ab96" providerId="ADAL" clId="{72BD8168-86F3-43FC-B709-0507F7810D7D}" dt="2026-05-13T16:22:14.022" v="161" actId="400"/>
          <ac:spMkLst>
            <pc:docMk/>
            <pc:sldMk cId="0" sldId="272"/>
            <ac:spMk id="262" creationId="{00000000-0000-0000-0000-000000000000}"/>
          </ac:spMkLst>
        </pc:spChg>
      </pc:sldChg>
      <pc:sldChg chg="modSp mod">
        <pc:chgData name="Anthony (Tony) Wilhelm" userId="111808ec-cec1-4bb5-b99a-563afe69ab96" providerId="ADAL" clId="{72BD8168-86F3-43FC-B709-0507F7810D7D}" dt="2026-05-20T21:13:14.950" v="269" actId="108"/>
        <pc:sldMkLst>
          <pc:docMk/>
          <pc:sldMk cId="0" sldId="284"/>
        </pc:sldMkLst>
        <pc:spChg chg="mod">
          <ac:chgData name="Anthony (Tony) Wilhelm" userId="111808ec-cec1-4bb5-b99a-563afe69ab96" providerId="ADAL" clId="{72BD8168-86F3-43FC-B709-0507F7810D7D}" dt="2026-05-20T21:13:14.950" v="269" actId="108"/>
          <ac:spMkLst>
            <pc:docMk/>
            <pc:sldMk cId="0" sldId="284"/>
            <ac:spMk id="3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Chrissy used to work for NATO, </a:t>
            </a: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You can write and publish your own module.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2d64ab2e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g212d64ab2ef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2d64ab2ef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2d64ab2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g212d64ab2ef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12d64ab2ef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2d64ab2e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g212d64ab2e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2d64ab2e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github.com/TonyWSQL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v-roddba.blogspot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aduc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nerd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onyWSQL" TargetMode="External"/><Relationship Id="rId5" Type="http://schemas.openxmlformats.org/officeDocument/2006/relationships/hyperlink" Target="https://dbatools.io/" TargetMode="External"/><Relationship Id="rId4" Type="http://schemas.openxmlformats.org/officeDocument/2006/relationships/hyperlink" Target="https://learn.microsoft.com/en-us/powershell/scripting/learn/ps101/00-introductio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5200" dirty="0"/>
              <a:t>Intro to PowerShell </a:t>
            </a:r>
            <a:br>
              <a:rPr lang="en-US" sz="5200" dirty="0"/>
            </a:br>
            <a:r>
              <a:rPr lang="en-US" sz="5200" dirty="0"/>
              <a:t>with dbatools </a:t>
            </a:r>
            <a:br>
              <a:rPr lang="en-US" sz="5200" dirty="0"/>
            </a:br>
            <a:r>
              <a:rPr lang="en-US" sz="5200" dirty="0"/>
              <a:t>for the DBA</a:t>
            </a:r>
            <a:endParaRPr sz="64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/>
              <a:t>Anthony (Tony) Wilhelm</a:t>
            </a:r>
            <a:br>
              <a:rPr lang="en-US" sz="2600" b="1"/>
            </a:br>
            <a:r>
              <a:rPr lang="en-US" sz="2600"/>
              <a:t>Technology Leader, Senior Consultant</a:t>
            </a:r>
            <a:br>
              <a:rPr lang="en-US" sz="2600"/>
            </a:br>
            <a:r>
              <a:rPr lang="en-US" sz="2600"/>
              <a:t>Data &amp; Analytics</a:t>
            </a:r>
            <a:br>
              <a:rPr lang="en-US" sz="2600"/>
            </a:br>
            <a:r>
              <a:rPr lang="en-US" sz="2600"/>
              <a:t>Moser Consulting, Inc. </a:t>
            </a:r>
            <a:endParaRPr sz="260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473975" y="1885138"/>
            <a:ext cx="6272785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tonywsql@wilhelm-tech.com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@tonywsql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  <a:hlinkClick r:id="rId4"/>
              </a:rPr>
              <a:t>https://v-roddba.blogspot.com/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253" y="1885138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26" name="Picture 2" descr="Twitter logo png, Twitter icon transparent free png 18930745 PNG">
            <a:extLst>
              <a:ext uri="{FF2B5EF4-FFF2-40B4-BE49-F238E27FC236}">
                <a16:creationId xmlns:a16="http://schemas.microsoft.com/office/drawing/2014/main" id="{77A8FF47-810A-F7F2-B2E9-AFB6E362A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5556" y="3658215"/>
            <a:ext cx="711723" cy="71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75" y="4664733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17" y="4266888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1BA57F-A3D9-C256-0007-A0C9EB4428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3146" y="4974295"/>
            <a:ext cx="1357619" cy="1808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17000">
                <a:srgbClr val="4472C4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960"/>
                </a:srgbClr>
              </a:gs>
              <a:gs pos="87000">
                <a:srgbClr val="8DA9DB">
                  <a:alpha val="1960"/>
                </a:srgbClr>
              </a:gs>
              <a:gs pos="100000">
                <a:srgbClr val="8DA9DB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48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Everyone has too much to do today, and you can never reuse a click” 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54" name="Google Shape;154;p2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0" i="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Ben Miller</a:t>
            </a:r>
            <a:r>
              <a:rPr lang="en-US" sz="2600" b="0" i="0" u="none" strike="noStrike">
                <a:latin typeface="Roboto"/>
                <a:ea typeface="Roboto"/>
                <a:cs typeface="Roboto"/>
                <a:sym typeface="Roboto"/>
              </a:rPr>
              <a:t>, Microsoft Data Platform MVP and PowerShell Devotee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Powershell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459350" y="1933800"/>
            <a:ext cx="11263200" cy="4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PowerShell has been around since Nov 2006 (v1.0 Windows XP &amp; Server 2003) </a:t>
            </a:r>
            <a:endParaRPr sz="2600" dirty="0"/>
          </a:p>
          <a:p>
            <a:pPr marL="685800" lvl="1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Started with 129 native cmdlets </a:t>
            </a:r>
            <a:endParaRPr sz="2600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Built in .NET - you can reference .NET libraries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Current version 7.3 has over 1500 native cmdlets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SQL Server Management Objects (SMO) was built for SQL 2005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0" u="none" strike="noStrike" dirty="0"/>
              <a:t>SQLPS module with limited functionality, used with </a:t>
            </a:r>
            <a:r>
              <a:rPr lang="en-US" sz="2600" dirty="0"/>
              <a:t>SQL Agent</a:t>
            </a:r>
            <a:r>
              <a:rPr lang="en-US" sz="2600" i="0" u="none" strike="noStrike" dirty="0"/>
              <a:t> when you select PowerShell as the step type.</a:t>
            </a:r>
            <a:r>
              <a:rPr lang="en-US" sz="2600" dirty="0"/>
              <a:t> Included with the SQL Server installation</a:t>
            </a:r>
            <a:endParaRPr sz="2600" b="1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dirty="0"/>
              <a:t>SQLServer</a:t>
            </a:r>
            <a:r>
              <a:rPr lang="en-US" sz="2600" i="0" u="none" strike="noStrike" dirty="0"/>
              <a:t> module - This is </a:t>
            </a:r>
            <a:r>
              <a:rPr lang="en-US" sz="2600" dirty="0"/>
              <a:t>the currently maintained module</a:t>
            </a:r>
            <a:br>
              <a:rPr lang="en-US" sz="2600" dirty="0"/>
            </a:br>
            <a:r>
              <a:rPr lang="en-US" sz="2600" dirty="0"/>
              <a:t>Last updated (06/17/2025) 38M downloads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History of dbatools</a:t>
            </a:r>
            <a:endParaRPr dirty="0"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9350" y="1854050"/>
            <a:ext cx="111534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Started out as a group of commands for migrating SQL instances in 2016 by </a:t>
            </a:r>
            <a:r>
              <a:rPr lang="en-US" sz="2600" u="sng" dirty="0">
                <a:solidFill>
                  <a:schemeClr val="hlink"/>
                </a:solidFill>
                <a:hlinkClick r:id="rId3"/>
              </a:rPr>
              <a:t>Chrissy LeMaire</a:t>
            </a:r>
            <a:r>
              <a:rPr lang="en-US" sz="2600" dirty="0"/>
              <a:t>, SQL &amp; PowerShell MVP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0" lvl="0" indent="0">
              <a:spcBef>
                <a:spcPts val="600"/>
              </a:spcBef>
              <a:buSzPts val="2000"/>
              <a:buNone/>
            </a:pPr>
            <a:r>
              <a:rPr lang="en-US" sz="2600" dirty="0"/>
              <a:t>With the help of over 140 contributors, it has grown into a fully fledged module with over 700 commands that allow DBAs to automate and standardize their work. Latest version is 2.8.1 released on 04/21. Almost 9M </a:t>
            </a:r>
            <a:r>
              <a:rPr lang="en-US" sz="2600"/>
              <a:t>total downloads</a:t>
            </a:r>
            <a:endParaRPr lang="en-US"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Is it Secure ?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Open Source with limited permissions to merge to Master. 5 out of 6 are current/former Microsoft MVPs or employees.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All the code is digitally signed</a:t>
            </a:r>
            <a:endParaRPr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 flipH="1">
            <a:off x="0" y="0"/>
            <a:ext cx="12192000" cy="16002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Powershell Concepts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647257" y="2558068"/>
            <a:ext cx="10921425" cy="3301825"/>
            <a:chOff x="3201" y="445489"/>
            <a:chExt cx="10921425" cy="3301825"/>
          </a:xfrm>
        </p:grpSpPr>
        <p:sp>
          <p:nvSpPr>
            <p:cNvPr id="190" name="Google Shape;190;p5"/>
            <p:cNvSpPr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Commenting</a:t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Modules</a:t>
              </a:r>
              <a:endParaRPr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Parameters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Limiting </a:t>
              </a: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Formatting Output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Looping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9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 flipH="1">
            <a:off x="0" y="-212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Commenting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192970" y="2408981"/>
            <a:ext cx="7830000" cy="3600000"/>
            <a:chOff x="1548914" y="296402"/>
            <a:chExt cx="7830000" cy="3600000"/>
          </a:xfrm>
        </p:grpSpPr>
        <p:sp>
          <p:nvSpPr>
            <p:cNvPr id="215" name="Google Shape;215;p8"/>
            <p:cNvSpPr/>
            <p:nvPr/>
          </p:nvSpPr>
          <p:spPr>
            <a:xfrm>
              <a:off x="225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718914" y="7644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 LINE COMMENTS</a:t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648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6948914" y="7644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MULTI-LINE COMMENTS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 rot="10800000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1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Commenting</a:t>
            </a:r>
            <a:endParaRPr/>
          </a:p>
        </p:txBody>
      </p:sp>
      <p:pic>
        <p:nvPicPr>
          <p:cNvPr id="231" name="Google Shape;231;p9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Single 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Multi-Line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Regions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2598" lvl="0" indent="-2123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start with a $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are not case sensitive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contain numbers and letters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Variables have multiple scopes: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Global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Local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Script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Private (not really a scope)</a:t>
            </a:r>
            <a:endParaRPr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2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Variables</a:t>
            </a:r>
            <a:endParaRPr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Variable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Custom Objects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Hashtables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Modules</a:t>
            </a:r>
            <a:endParaRPr/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459350" y="1834125"/>
            <a:ext cx="89007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Modules are a package that contain PowerShell objects like cmdlets, functions, and variables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Best place to get modules is the PowerShell Gallery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269</a:t>
            </a:r>
            <a:r>
              <a:rPr lang="en-US" sz="2600" dirty="0"/>
              <a:t> </a:t>
            </a:r>
            <a:r>
              <a:rPr lang="en-US" sz="2600" strike="sngStrike" dirty="0"/>
              <a:t>537</a:t>
            </a:r>
            <a:r>
              <a:rPr lang="en-US" sz="2600" dirty="0"/>
              <a:t> </a:t>
            </a:r>
            <a:r>
              <a:rPr lang="en-US" sz="2600" strike="sngStrike" dirty="0"/>
              <a:t>610</a:t>
            </a:r>
            <a:r>
              <a:rPr lang="en-US" sz="2600" dirty="0"/>
              <a:t> 647 thousand total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11</a:t>
            </a:r>
            <a:r>
              <a:rPr lang="en-US" sz="2600" dirty="0"/>
              <a:t> </a:t>
            </a:r>
            <a:r>
              <a:rPr lang="en-US" sz="2600" strike="sngStrike" dirty="0"/>
              <a:t>12</a:t>
            </a:r>
            <a:r>
              <a:rPr lang="en-US" sz="2600" dirty="0"/>
              <a:t> </a:t>
            </a:r>
            <a:r>
              <a:rPr lang="en-US" sz="2600" strike="sngStrike" dirty="0"/>
              <a:t>14</a:t>
            </a:r>
            <a:r>
              <a:rPr lang="en-US" sz="2600" dirty="0"/>
              <a:t> 15 thousand unique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8</a:t>
            </a:r>
            <a:r>
              <a:rPr lang="en-US" sz="2600" dirty="0"/>
              <a:t> </a:t>
            </a:r>
            <a:r>
              <a:rPr lang="en-US" sz="2600" strike="sngStrike" dirty="0"/>
              <a:t>9</a:t>
            </a:r>
            <a:r>
              <a:rPr lang="en-US" sz="2600" dirty="0"/>
              <a:t> </a:t>
            </a:r>
            <a:r>
              <a:rPr lang="en-US" sz="2600" strike="sngStrike" dirty="0"/>
              <a:t>10</a:t>
            </a:r>
            <a:r>
              <a:rPr lang="en-US" sz="2600" dirty="0"/>
              <a:t> </a:t>
            </a:r>
            <a:r>
              <a:rPr lang="en-US" sz="2600" strike="sngStrike" dirty="0"/>
              <a:t>27</a:t>
            </a:r>
            <a:r>
              <a:rPr lang="en-US" sz="2600" dirty="0"/>
              <a:t> </a:t>
            </a:r>
            <a:r>
              <a:rPr lang="en-US" sz="2600" strike="sngStrike" dirty="0"/>
              <a:t>31</a:t>
            </a:r>
            <a:r>
              <a:rPr lang="en-US" sz="2600" dirty="0"/>
              <a:t> 34 billion packages downloaded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Other Modules are available as components of windows</a:t>
            </a:r>
            <a:br>
              <a:rPr lang="en-US" sz="2600" dirty="0"/>
            </a:br>
            <a:r>
              <a:rPr lang="en-US" sz="2600" dirty="0"/>
              <a:t>ex: </a:t>
            </a:r>
            <a:r>
              <a:rPr lang="en-US" sz="2600" dirty="0" err="1"/>
              <a:t>ActiveDirectory</a:t>
            </a:r>
            <a:r>
              <a:rPr lang="en-US" sz="2600" dirty="0"/>
              <a:t> </a:t>
            </a:r>
            <a:endParaRPr sz="2600"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7050" y="2058205"/>
            <a:ext cx="24003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3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Modules</a:t>
            </a:r>
            <a:endParaRPr/>
          </a:p>
        </p:txBody>
      </p:sp>
      <p:pic>
        <p:nvPicPr>
          <p:cNvPr id="273" name="Google Shape;273;p7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5920825" y="1814175"/>
            <a:ext cx="4872900" cy="4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Uninstall-Module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954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2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Get-InstalledModule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Get-Command</a:t>
            </a:r>
            <a:endParaRPr sz="260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Get-Help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There are multiple ways to pass parameters to a cmdlet or function: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name 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position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Passing them at runtime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Splatting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Parameters can be Mandatory or Optional.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4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pic>
        <p:nvPicPr>
          <p:cNvPr id="293" name="Google Shape;293;p14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Common Parameters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WhatIf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Confirm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Verbose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Splatting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is a series of commands connected by the “|” symbol.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pipeline, the output of the first command is passed on to the second command.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but not all PowerShell and dbatools commands accept pipeline input</a:t>
            </a:r>
            <a:endParaRPr sz="2600" dirty="0"/>
          </a:p>
        </p:txBody>
      </p:sp>
      <p:sp>
        <p:nvSpPr>
          <p:cNvPr id="303" name="Google Shape;303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5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Pipelining</a:t>
            </a:r>
            <a:endParaRPr/>
          </a:p>
        </p:txBody>
      </p:sp>
      <p:pic>
        <p:nvPicPr>
          <p:cNvPr id="312" name="Google Shape;312;p13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Pipeline examples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12d64ab2ef_1_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12d64ab2ef_1_4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12d64ab2ef_1_4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12d64ab2ef_1_4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Filtering Output</a:t>
            </a:r>
            <a:endParaRPr/>
          </a:p>
        </p:txBody>
      </p:sp>
      <p:sp>
        <p:nvSpPr>
          <p:cNvPr id="323" name="Google Shape;323;g212d64ab2ef_1_45"/>
          <p:cNvSpPr txBox="1">
            <a:spLocks noGrp="1"/>
          </p:cNvSpPr>
          <p:nvPr>
            <p:ph type="body" idx="1"/>
          </p:nvPr>
        </p:nvSpPr>
        <p:spPr>
          <a:xfrm>
            <a:off x="841248" y="1828800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Just like with T-SQL you can limit the output from a function.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objects returned with the Where-Object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properties returned with the Select-Object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Filtering Output</a:t>
            </a:r>
            <a:endParaRPr/>
          </a:p>
        </p:txBody>
      </p:sp>
      <p:pic>
        <p:nvPicPr>
          <p:cNvPr id="332" name="Google Shape;332;p15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Ways to filter output:</a:t>
            </a: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Where-Object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Select-Object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2d64ab2ef_1_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12d64ab2ef_1_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212d64ab2ef_1_3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12d64ab2ef_1_3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Formatting Output</a:t>
            </a:r>
            <a:endParaRPr/>
          </a:p>
        </p:txBody>
      </p:sp>
      <p:sp>
        <p:nvSpPr>
          <p:cNvPr id="343" name="Google Shape;343;g212d64ab2ef_1_3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Multiple ways to format the output from a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Format-List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Format-Table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Out-Gridview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Write-Out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Write-Verbose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Formatting Output</a:t>
            </a:r>
            <a:endParaRPr/>
          </a:p>
        </p:txBody>
      </p:sp>
      <p:pic>
        <p:nvPicPr>
          <p:cNvPr id="352" name="Google Shape;352;p16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Ways to format the object: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Sort-Object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Out-Gridview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Write-Verbose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2d64ab2ef_1_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12d64ab2ef_1_2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12d64ab2ef_1_2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12d64ab2ef_1_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Looping</a:t>
            </a:r>
            <a:endParaRPr/>
          </a:p>
        </p:txBody>
      </p:sp>
      <p:sp>
        <p:nvSpPr>
          <p:cNvPr id="363" name="Google Shape;363;g212d64ab2ef_1_23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Just like most programming languages, you can write loops in PowerShell.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There’s 4 basic types of loops 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 - for looping with a built-in counter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 (x in y) - for looping through a collection or array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Do &amp; While - Repeats until a condition is true.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And </a:t>
            </a:r>
            <a:r>
              <a:rPr lang="en-US" sz="2000" dirty="0" err="1"/>
              <a:t>and</a:t>
            </a:r>
            <a:r>
              <a:rPr lang="en-US" sz="2000" dirty="0"/>
              <a:t> one that you can use with pipelines: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Foreach-Object</a:t>
            </a:r>
            <a:endParaRPr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– </a:t>
            </a:r>
            <a:r>
              <a:rPr lang="en-US" sz="4000">
                <a:solidFill>
                  <a:srgbClr val="FFFFFF"/>
                </a:solidFill>
              </a:rPr>
              <a:t>Loops</a:t>
            </a:r>
            <a:endParaRPr/>
          </a:p>
        </p:txBody>
      </p:sp>
      <p:pic>
        <p:nvPicPr>
          <p:cNvPr id="373" name="Google Shape;373;p18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 txBox="1"/>
          <p:nvPr/>
        </p:nvSpPr>
        <p:spPr>
          <a:xfrm>
            <a:off x="5920820" y="2112579"/>
            <a:ext cx="4872919" cy="430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Looping methods</a:t>
            </a:r>
            <a:r>
              <a:rPr lang="en-US" sz="2604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 (x in y)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Foreach-Object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Do/While or Do/Until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Control: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u="sng" dirty="0">
                <a:latin typeface="Arial"/>
                <a:ea typeface="Arial"/>
                <a:cs typeface="Arial"/>
                <a:sym typeface="Arial"/>
              </a:rPr>
              <a:t> Gallery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https://www.powershellgallery.com/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endParaRPr sz="2000" u="sng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Microsoft </a:t>
            </a:r>
            <a:r>
              <a:rPr lang="en-US" sz="2000" b="0" i="0" u="sng" strike="noStrike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 Documentation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sng" strike="noStrik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https://learn.microsoft.com/en-us/powershell/scripting/learn/ps101/00-introduction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endParaRPr sz="2000" b="0" i="0" u="sng" strike="noStrike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dbatools 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https://dbatools.io/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>
              <a:spcBef>
                <a:spcPts val="0"/>
              </a:spcBef>
              <a:buSzPts val="2000"/>
            </a:pPr>
            <a:r>
              <a:rPr lang="en-US" sz="2000" dirty="0">
                <a:latin typeface="Arial"/>
                <a:cs typeface="Arial"/>
                <a:sym typeface="Arial"/>
              </a:rPr>
              <a:t>Slides and Demos</a:t>
            </a:r>
            <a:b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hlinkClick r:id="rId6"/>
              </a:rPr>
              <a:t>https://github.com/TonyWSQL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801</Words>
  <Application>Microsoft Office PowerPoint</Application>
  <PresentationFormat>Widescreen</PresentationFormat>
  <Paragraphs>179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Arial</vt:lpstr>
      <vt:lpstr>Roboto</vt:lpstr>
      <vt:lpstr>Office Theme</vt:lpstr>
      <vt:lpstr>Intro to PowerShell  with dbatools  for the DBA</vt:lpstr>
      <vt:lpstr>Tony Wilhelm</vt:lpstr>
      <vt:lpstr>“Everyone has too much to do today, and you can never reuse a click” </vt:lpstr>
      <vt:lpstr>History of Powershell</vt:lpstr>
      <vt:lpstr>History of dbatools</vt:lpstr>
      <vt:lpstr>Powershell Concepts</vt:lpstr>
      <vt:lpstr>Commenting</vt:lpstr>
      <vt:lpstr>Demo 1 - Commenting</vt:lpstr>
      <vt:lpstr>Variables</vt:lpstr>
      <vt:lpstr>Demo 2 - Variables</vt:lpstr>
      <vt:lpstr>Modules</vt:lpstr>
      <vt:lpstr>Demo 3 – Modules</vt:lpstr>
      <vt:lpstr>Parameters</vt:lpstr>
      <vt:lpstr>Demo 4 - Parameters</vt:lpstr>
      <vt:lpstr>Pipeline</vt:lpstr>
      <vt:lpstr>Demo 5 - Pipelining</vt:lpstr>
      <vt:lpstr>Filtering Output</vt:lpstr>
      <vt:lpstr>Demo - Filtering Output</vt:lpstr>
      <vt:lpstr>Formatting Output</vt:lpstr>
      <vt:lpstr>Demo - Formatting Output</vt:lpstr>
      <vt:lpstr>Looping</vt:lpstr>
      <vt:lpstr>Demo – Loops</vt:lpstr>
      <vt:lpstr>Resources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PowerShell  with dbatools  for the DBA</dc:title>
  <dc:creator>Anthony (Tony) Wilhelm</dc:creator>
  <cp:lastModifiedBy>Anthony (Tony) Wilhelm</cp:lastModifiedBy>
  <cp:revision>6</cp:revision>
  <dcterms:created xsi:type="dcterms:W3CDTF">2023-03-24T20:07:07Z</dcterms:created>
  <dcterms:modified xsi:type="dcterms:W3CDTF">2026-05-23T01:35:09Z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2023-03-24T20:07:29Z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bc49ab0c-0b9a-426e-95a6-77a04dcfa7bc</vt:lpwstr>
  </property>
  <property fmtid="{D5CDD505-2E9C-101B-9397-08002B2CF9AE}" pid="8" name="MSIP_Label_e0ee06db-1980-431f-9f40-cfc6bed7e768_ContentBits">
    <vt:lpwstr>0</vt:lpwstr>
  </property>
</Properties>
</file>