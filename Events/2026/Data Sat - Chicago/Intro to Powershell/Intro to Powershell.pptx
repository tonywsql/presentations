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</p:sldIdLst>
  <p:sldSz cx="12192000" cy="6858000"/>
  <p:notesSz cx="6858000" cy="9144000"/>
  <p:embeddedFontLs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9" roundtripDataSignature="AMtx7mgObtSRP4Y3aSux5NQfV29+0LOS3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eter Shore" initials="" lastIdx="4" clrIdx="0"/>
  <p:cmAuthor id="1" name="Tony Wilhelm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B74841-FB7D-48A7-B35E-85248774B7B6}" v="1" dt="2026-03-14T03:42:20.0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customschemas.google.com/relationships/presentationmetadata" Target="metadata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schemas.openxmlformats.org/officeDocument/2006/relationships/commentAuthors" Target="commentAuthors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hony (Tony) Wilhelm" userId="111808ec-cec1-4bb5-b99a-563afe69ab96" providerId="ADAL" clId="{72BD8168-86F3-43FC-B709-0507F7810D7D}"/>
    <pc:docChg chg="undo custSel addSld delSld modSld sldOrd delMainMaster">
      <pc:chgData name="Anthony (Tony) Wilhelm" userId="111808ec-cec1-4bb5-b99a-563afe69ab96" providerId="ADAL" clId="{72BD8168-86F3-43FC-B709-0507F7810D7D}" dt="2026-03-14T03:42:20.002" v="150"/>
      <pc:docMkLst>
        <pc:docMk/>
      </pc:docMkLst>
      <pc:sldChg chg="modSp mod">
        <pc:chgData name="Anthony (Tony) Wilhelm" userId="111808ec-cec1-4bb5-b99a-563afe69ab96" providerId="ADAL" clId="{72BD8168-86F3-43FC-B709-0507F7810D7D}" dt="2026-02-24T16:51:28.905" v="131" actId="20577"/>
        <pc:sldMkLst>
          <pc:docMk/>
          <pc:sldMk cId="0" sldId="266"/>
        </pc:sldMkLst>
        <pc:spChg chg="mod">
          <ac:chgData name="Anthony (Tony) Wilhelm" userId="111808ec-cec1-4bb5-b99a-563afe69ab96" providerId="ADAL" clId="{72BD8168-86F3-43FC-B709-0507F7810D7D}" dt="2026-02-24T16:51:28.905" v="131" actId="20577"/>
          <ac:spMkLst>
            <pc:docMk/>
            <pc:sldMk cId="0" sldId="266"/>
            <ac:spMk id="176" creationId="{00000000-0000-0000-0000-000000000000}"/>
          </ac:spMkLst>
        </pc:spChg>
      </pc:sldChg>
      <pc:sldChg chg="modSp mod">
        <pc:chgData name="Anthony (Tony) Wilhelm" userId="111808ec-cec1-4bb5-b99a-563afe69ab96" providerId="ADAL" clId="{72BD8168-86F3-43FC-B709-0507F7810D7D}" dt="2026-02-24T16:52:28.001" v="144" actId="400"/>
        <pc:sldMkLst>
          <pc:docMk/>
          <pc:sldMk cId="0" sldId="272"/>
        </pc:sldMkLst>
        <pc:spChg chg="mod">
          <ac:chgData name="Anthony (Tony) Wilhelm" userId="111808ec-cec1-4bb5-b99a-563afe69ab96" providerId="ADAL" clId="{72BD8168-86F3-43FC-B709-0507F7810D7D}" dt="2026-02-24T16:52:28.001" v="144" actId="400"/>
          <ac:spMkLst>
            <pc:docMk/>
            <pc:sldMk cId="0" sldId="272"/>
            <ac:spMk id="262" creationId="{00000000-0000-0000-0000-000000000000}"/>
          </ac:spMkLst>
        </pc:spChg>
      </pc:sldChg>
      <pc:sldChg chg="addSp delSp new mod ord">
        <pc:chgData name="Anthony (Tony) Wilhelm" userId="111808ec-cec1-4bb5-b99a-563afe69ab96" providerId="ADAL" clId="{72BD8168-86F3-43FC-B709-0507F7810D7D}" dt="2026-03-14T03:42:20.002" v="150"/>
        <pc:sldMkLst>
          <pc:docMk/>
          <pc:sldMk cId="3483194011" sldId="286"/>
        </pc:sldMkLst>
        <pc:spChg chg="del">
          <ac:chgData name="Anthony (Tony) Wilhelm" userId="111808ec-cec1-4bb5-b99a-563afe69ab96" providerId="ADAL" clId="{72BD8168-86F3-43FC-B709-0507F7810D7D}" dt="2026-03-14T03:40:04.520" v="149" actId="478"/>
          <ac:spMkLst>
            <pc:docMk/>
            <pc:sldMk cId="3483194011" sldId="286"/>
            <ac:spMk id="2" creationId="{50CB4582-32EA-EFBD-A0A7-5B3B605B247A}"/>
          </ac:spMkLst>
        </pc:spChg>
        <pc:spChg chg="del">
          <ac:chgData name="Anthony (Tony) Wilhelm" userId="111808ec-cec1-4bb5-b99a-563afe69ab96" providerId="ADAL" clId="{72BD8168-86F3-43FC-B709-0507F7810D7D}" dt="2026-03-14T03:40:02.778" v="148" actId="478"/>
          <ac:spMkLst>
            <pc:docMk/>
            <pc:sldMk cId="3483194011" sldId="286"/>
            <ac:spMk id="3" creationId="{95A018D8-96C9-3317-7407-9316AF4C258D}"/>
          </ac:spMkLst>
        </pc:spChg>
        <pc:picChg chg="add">
          <ac:chgData name="Anthony (Tony) Wilhelm" userId="111808ec-cec1-4bb5-b99a-563afe69ab96" providerId="ADAL" clId="{72BD8168-86F3-43FC-B709-0507F7810D7D}" dt="2026-03-14T03:42:20.002" v="150"/>
          <ac:picMkLst>
            <pc:docMk/>
            <pc:sldMk cId="3483194011" sldId="286"/>
            <ac:picMk id="4" creationId="{96F2C0D5-15F9-6000-BBBD-1279B705F256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4" name="Google Shape;14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7" name="Google Shape;157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Just glance over </a:t>
            </a:r>
            <a:endParaRPr/>
          </a:p>
        </p:txBody>
      </p:sp>
      <p:sp>
        <p:nvSpPr>
          <p:cNvPr id="158" name="Google Shape;158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8" name="Google Shape;16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Chrissy used to work for NATO, </a:t>
            </a:r>
            <a:endParaRPr/>
          </a:p>
        </p:txBody>
      </p:sp>
      <p:sp>
        <p:nvSpPr>
          <p:cNvPr id="169" name="Google Shape;169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79" name="Google Shape;179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35" name="Google Shape;23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54" name="Google Shape;25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 sz="1200"/>
              <a:t>You can write and publish your own module.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66" name="Google Shape;26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77" name="Google Shape;277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2d64ab2ef_1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16" name="Google Shape;316;g212d64ab2ef_1_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g212d64ab2ef_1_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2d64ab2ef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36" name="Google Shape;336;g212d64ab2ef_1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212d64ab2ef_1_3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12d64ab2ef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56" name="Google Shape;356;g212d64ab2ef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g212d64ab2ef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66" name="Google Shape;366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40827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2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8" name="Google Shape;68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mailto:tonywsql@wilhelm-tech.com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hyperlink" Target="https://github.com/TonyWSQL" TargetMode="External"/><Relationship Id="rId4" Type="http://schemas.openxmlformats.org/officeDocument/2006/relationships/hyperlink" Target="https://v-roddba.blogspot.com/" TargetMode="External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baduck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etnerds.net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wershellgallery.com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batools.io/" TargetMode="External"/><Relationship Id="rId4" Type="http://schemas.openxmlformats.org/officeDocument/2006/relationships/hyperlink" Target="https://learn.microsoft.com/en-us/powershell/scripting/learn/ps101/00-introduction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136396" y="457201"/>
            <a:ext cx="5814300" cy="25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Calibri"/>
              <a:buNone/>
            </a:pPr>
            <a:r>
              <a:rPr lang="en-US" sz="5200" dirty="0"/>
              <a:t>Intro to PowerShell </a:t>
            </a:r>
            <a:br>
              <a:rPr lang="en-US" sz="5200" dirty="0"/>
            </a:br>
            <a:r>
              <a:rPr lang="en-US" sz="5200" dirty="0"/>
              <a:t>with dbatools </a:t>
            </a:r>
            <a:br>
              <a:rPr lang="en-US" sz="5200" dirty="0"/>
            </a:br>
            <a:r>
              <a:rPr lang="en-US" sz="5200" dirty="0"/>
              <a:t>for the DBA</a:t>
            </a:r>
            <a:endParaRPr sz="64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136396" y="4479636"/>
            <a:ext cx="5814300" cy="12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b="1"/>
              <a:t>Anthony (Tony) Wilhelm</a:t>
            </a:r>
            <a:br>
              <a:rPr lang="en-US" sz="2600" b="1"/>
            </a:br>
            <a:r>
              <a:rPr lang="en-US" sz="2600"/>
              <a:t>Technology Leader, Senior Consultant</a:t>
            </a:r>
            <a:br>
              <a:rPr lang="en-US" sz="2600"/>
            </a:br>
            <a:r>
              <a:rPr lang="en-US" sz="2600"/>
              <a:t>Data &amp; Analytics</a:t>
            </a:r>
            <a:br>
              <a:rPr lang="en-US" sz="2600"/>
            </a:br>
            <a:r>
              <a:rPr lang="en-US" sz="2600"/>
              <a:t>Moser Consulting, Inc. </a:t>
            </a:r>
            <a:endParaRPr sz="2600"/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88169" y="799365"/>
            <a:ext cx="2896062" cy="2210153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" descr="dbatools (@psdbatools) / Twitter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0213" y="3375824"/>
            <a:ext cx="2243263" cy="2243263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"/>
          <p:cNvSpPr/>
          <p:nvPr/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66000">
                <a:srgbClr val="000000"/>
              </a:gs>
              <a:gs pos="100000">
                <a:srgbClr val="000000"/>
              </a:gs>
            </a:gsLst>
            <a:lin ang="102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/>
          <p:nvPr/>
        </p:nvSpPr>
        <p:spPr>
          <a:xfrm flipH="1">
            <a:off x="1" y="6400800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2745"/>
                </a:srgbClr>
              </a:gs>
              <a:gs pos="100000">
                <a:srgbClr val="2F5496"/>
              </a:gs>
            </a:gsLst>
            <a:lin ang="17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F2C0D5-15F9-6000-BBBD-1279B705F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1692" y="0"/>
            <a:ext cx="94286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194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0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0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Tony Wilhelm</a:t>
            </a:r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Started with Microsoft Access in the 90’s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Been using SQL server since 7.0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u="sng" dirty="0">
                <a:solidFill>
                  <a:schemeClr val="hlink"/>
                </a:solidFill>
                <a:latin typeface="+mj-lt"/>
                <a:ea typeface="Arial"/>
                <a:cs typeface="Arial"/>
                <a:sym typeface="Arial"/>
                <a:hlinkClick r:id="rId3"/>
              </a:rPr>
              <a:t>tonywsql@wilhelm-tech.com</a:t>
            </a:r>
            <a:endParaRPr sz="26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     @tonywsql</a:t>
            </a:r>
            <a:endParaRPr sz="2600" dirty="0">
              <a:latin typeface="+mj-l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</a:rPr>
              <a:t>      </a:t>
            </a:r>
            <a:r>
              <a:rPr lang="en-US" sz="2600" b="0" i="0" u="none" strike="noStrike" dirty="0">
                <a:latin typeface="+mj-lt"/>
                <a:ea typeface="Arial"/>
                <a:cs typeface="Arial"/>
                <a:sym typeface="Arial"/>
                <a:hlinkClick r:id="rId4"/>
              </a:rPr>
              <a:t>https://v-roddba.blogspot.com/</a:t>
            </a:r>
            <a:endParaRPr lang="en-US" sz="2600" b="0" i="0" u="none" strike="noStrike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 dirty="0">
                <a:latin typeface="+mj-lt"/>
              </a:rPr>
              <a:t>      </a:t>
            </a:r>
            <a:r>
              <a:rPr lang="en-US" sz="2600" dirty="0">
                <a:latin typeface="+mj-lt"/>
                <a:hlinkClick r:id="rId5"/>
              </a:rPr>
              <a:t>https://github.com/TonyWSQL</a:t>
            </a:r>
            <a:endParaRPr sz="2600" dirty="0">
              <a:latin typeface="+mj-lt"/>
            </a:endParaRPr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034625" y="2033475"/>
            <a:ext cx="3683400" cy="36834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026" name="Picture 2" descr="Twitter logo png, Twitter icon transparent free png 18930745 PNG">
            <a:extLst>
              <a:ext uri="{FF2B5EF4-FFF2-40B4-BE49-F238E27FC236}">
                <a16:creationId xmlns:a16="http://schemas.microsoft.com/office/drawing/2014/main" id="{77A8FF47-810A-F7F2-B2E9-AFB6E362A2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303180" y="4091232"/>
            <a:ext cx="711723" cy="711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Logos and Usage · GitHub">
            <a:extLst>
              <a:ext uri="{FF2B5EF4-FFF2-40B4-BE49-F238E27FC236}">
                <a16:creationId xmlns:a16="http://schemas.microsoft.com/office/drawing/2014/main" id="{7C9BD6B7-44DA-5C3C-E60A-E46FD371FB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1599" y="5097750"/>
            <a:ext cx="6191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F886A15-8696-37A6-4205-45F2E8AB56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8541" y="4699905"/>
            <a:ext cx="445984" cy="445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"/>
          <p:cNvSpPr/>
          <p:nvPr/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rgbClr val="2F5496"/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"/>
          <p:cNvSpPr/>
          <p:nvPr/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40000">
                <a:srgbClr val="4472C4">
                  <a:alpha val="0"/>
                </a:srgbClr>
              </a:gs>
              <a:gs pos="100000">
                <a:srgbClr val="2F5496">
                  <a:alpha val="51764"/>
                </a:srgbClr>
              </a:gs>
            </a:gsLst>
            <a:lin ang="2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"/>
          <p:cNvSpPr/>
          <p:nvPr/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17000">
                <a:srgbClr val="4472C4">
                  <a:alpha val="0"/>
                </a:srgbClr>
              </a:gs>
              <a:gs pos="100000">
                <a:srgbClr val="000000">
                  <a:alpha val="36862"/>
                </a:srgbClr>
              </a:gs>
            </a:gsLst>
            <a:lin ang="7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"/>
          <p:cNvSpPr/>
          <p:nvPr/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rgbClr val="1F3864">
                  <a:alpha val="0"/>
                </a:srgbClr>
              </a:gs>
              <a:gs pos="100000">
                <a:srgbClr val="000000">
                  <a:alpha val="24705"/>
                </a:srgbClr>
              </a:gs>
            </a:gsLst>
            <a:lin ang="186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/>
          <p:nvPr/>
        </p:nvSpPr>
        <p:spPr>
          <a:xfrm rot="-9091028">
            <a:off x="5945431" y="-1032053"/>
            <a:ext cx="4990147" cy="4439131"/>
          </a:xfrm>
          <a:custGeom>
            <a:avLst/>
            <a:gdLst/>
            <a:ahLst/>
            <a:cxnLst/>
            <a:rect l="l" t="t" r="r" b="b"/>
            <a:pathLst>
              <a:path w="4990147" h="4439131" extrusionOk="0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rgbClr val="4472C4">
                  <a:alpha val="21960"/>
                </a:srgbClr>
              </a:gs>
              <a:gs pos="87000">
                <a:srgbClr val="8DA9DB">
                  <a:alpha val="1960"/>
                </a:srgbClr>
              </a:gs>
              <a:gs pos="100000">
                <a:srgbClr val="8DA9DB">
                  <a:alpha val="1960"/>
                </a:srgbClr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"/>
          <p:cNvSpPr txBox="1"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</a:pPr>
            <a:r>
              <a:rPr lang="en-US" sz="4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4800" b="0" i="0" u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Everyone has too much to do today, and you can never reuse a click” </a:t>
            </a:r>
            <a:endParaRPr sz="4800">
              <a:solidFill>
                <a:srgbClr val="FFFFFF"/>
              </a:solidFill>
            </a:endParaRPr>
          </a:p>
        </p:txBody>
      </p:sp>
      <p:sp>
        <p:nvSpPr>
          <p:cNvPr id="154" name="Google Shape;154;p2"/>
          <p:cNvSpPr txBox="1"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600" b="0" i="0" u="sng" strike="noStrike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Ben Miller</a:t>
            </a:r>
            <a:r>
              <a:rPr lang="en-US" sz="2600" b="0" i="0" u="none" strike="noStrike">
                <a:latin typeface="Roboto"/>
                <a:ea typeface="Roboto"/>
                <a:cs typeface="Roboto"/>
                <a:sym typeface="Roboto"/>
              </a:rPr>
              <a:t>, Microsoft Data Platform MVP and PowerShell Devotee</a:t>
            </a:r>
            <a:endParaRPr sz="2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 flipH="1">
            <a:off x="0" y="0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History of Powershell</a:t>
            </a:r>
            <a:endParaRPr/>
          </a:p>
        </p:txBody>
      </p:sp>
      <p:sp>
        <p:nvSpPr>
          <p:cNvPr id="165" name="Google Shape;165;p3"/>
          <p:cNvSpPr txBox="1">
            <a:spLocks noGrp="1"/>
          </p:cNvSpPr>
          <p:nvPr>
            <p:ph type="body" idx="1"/>
          </p:nvPr>
        </p:nvSpPr>
        <p:spPr>
          <a:xfrm>
            <a:off x="459350" y="1933800"/>
            <a:ext cx="11263200" cy="4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PowerShell has been around since Nov 2006 (v1.0 Windows XP &amp; Server 2003) </a:t>
            </a:r>
            <a:endParaRPr sz="2600" dirty="0"/>
          </a:p>
          <a:p>
            <a:pPr marL="685800" lvl="1" indent="-3111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Started with 129 native cmdlets </a:t>
            </a:r>
            <a:endParaRPr sz="2600" dirty="0"/>
          </a:p>
          <a:p>
            <a:pPr marL="2286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Built in .NET - you can reference .NET libraries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Current version 7.3 has over 1500 native cmdlets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i="0" u="none" strike="noStrike" dirty="0"/>
              <a:t>SQL Server Management Objects (SMO) was built for SQL 2005</a:t>
            </a:r>
            <a:endParaRPr sz="2600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i="0" u="none" strike="noStrike" dirty="0"/>
              <a:t>SQLPS module with limited functionality, used with </a:t>
            </a:r>
            <a:r>
              <a:rPr lang="en-US" sz="2600" dirty="0"/>
              <a:t>SQL Agent</a:t>
            </a:r>
            <a:r>
              <a:rPr lang="en-US" sz="2600" i="0" u="none" strike="noStrike" dirty="0"/>
              <a:t> when you select PowerShell as the step type.</a:t>
            </a:r>
            <a:r>
              <a:rPr lang="en-US" sz="2600" dirty="0"/>
              <a:t> Included with the SQL Server installation</a:t>
            </a:r>
            <a:endParaRPr sz="2600" b="1" dirty="0"/>
          </a:p>
          <a:p>
            <a:pPr marL="228600" lvl="0" indent="-1206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i="0" u="none" strike="noStrike" dirty="0"/>
          </a:p>
          <a:p>
            <a:pPr marL="228600" lvl="0" indent="-2857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•"/>
            </a:pPr>
            <a:r>
              <a:rPr lang="en-US" sz="2600" dirty="0"/>
              <a:t>SQLServer</a:t>
            </a:r>
            <a:r>
              <a:rPr lang="en-US" sz="2600" i="0" u="none" strike="noStrike" dirty="0"/>
              <a:t> module - This is </a:t>
            </a:r>
            <a:r>
              <a:rPr lang="en-US" sz="2600" dirty="0"/>
              <a:t>the currently maintained module</a:t>
            </a:r>
            <a:br>
              <a:rPr lang="en-US" sz="2600" dirty="0"/>
            </a:br>
            <a:r>
              <a:rPr lang="en-US" sz="2600" dirty="0"/>
              <a:t>Last updated (06/17/2025)</a:t>
            </a: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F3864">
                  <a:alpha val="51764"/>
                </a:srgbClr>
              </a:gs>
              <a:gs pos="100000">
                <a:srgbClr val="1F3864">
                  <a:alpha val="51764"/>
                </a:srgbClr>
              </a:gs>
            </a:gsLst>
            <a:lin ang="16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 dirty="0">
                <a:solidFill>
                  <a:srgbClr val="FFFFFF"/>
                </a:solidFill>
              </a:rPr>
              <a:t>History of dbatools</a:t>
            </a:r>
            <a:endParaRPr dirty="0"/>
          </a:p>
        </p:txBody>
      </p:sp>
      <p:sp>
        <p:nvSpPr>
          <p:cNvPr id="176" name="Google Shape;176;p4"/>
          <p:cNvSpPr txBox="1">
            <a:spLocks noGrp="1"/>
          </p:cNvSpPr>
          <p:nvPr>
            <p:ph type="body" idx="1"/>
          </p:nvPr>
        </p:nvSpPr>
        <p:spPr>
          <a:xfrm>
            <a:off x="459350" y="1854050"/>
            <a:ext cx="11153400" cy="47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dirty="0"/>
              <a:t>Started out as a group of commands for migrating SQL instances in 2016 by </a:t>
            </a:r>
            <a:r>
              <a:rPr lang="en-US" sz="2600" u="sng" dirty="0">
                <a:solidFill>
                  <a:schemeClr val="hlink"/>
                </a:solidFill>
                <a:hlinkClick r:id="rId3"/>
              </a:rPr>
              <a:t>Chrissy LeMaire</a:t>
            </a:r>
            <a:r>
              <a:rPr lang="en-US" sz="2600" dirty="0"/>
              <a:t>, SQL &amp; PowerShell MVP</a:t>
            </a: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dirty="0"/>
              <a:t>With the help of over 140 contributors, it has grown into a fully fledged module with over 700 commands that allow DBAs to automate and standardize their work.</a:t>
            </a: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0" lvl="0" indent="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 dirty="0"/>
              <a:t>Is it Secure ?</a:t>
            </a: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b="0" dirty="0"/>
              <a:t>Open Source with limited permissions to merge to Master. 5 out of 6 are current/former Microsoft MVPs or employees.</a:t>
            </a: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b="0" dirty="0"/>
              <a:t>All the code is digitally signed</a:t>
            </a:r>
            <a:endParaRPr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 flipH="1">
            <a:off x="8115297" y="-1"/>
            <a:ext cx="4076700" cy="1590600"/>
          </a:xfrm>
          <a:prstGeom prst="rect">
            <a:avLst/>
          </a:prstGeom>
          <a:gradFill>
            <a:gsLst>
              <a:gs pos="0">
                <a:srgbClr val="4472C4">
                  <a:alpha val="65882"/>
                </a:srgbClr>
              </a:gs>
              <a:gs pos="100000">
                <a:srgbClr val="000000">
                  <a:alpha val="29803"/>
                </a:srgbClr>
              </a:gs>
            </a:gsLst>
            <a:lin ang="131999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5"/>
          <p:cNvSpPr/>
          <p:nvPr/>
        </p:nvSpPr>
        <p:spPr>
          <a:xfrm>
            <a:off x="459350" y="-1"/>
            <a:ext cx="11732700" cy="15975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0000">
                <a:srgbClr val="000000">
                  <a:alpha val="0"/>
                </a:srgbClr>
              </a:gs>
              <a:gs pos="99000">
                <a:srgbClr val="1F3864">
                  <a:alpha val="51764"/>
                </a:srgbClr>
              </a:gs>
              <a:gs pos="100000">
                <a:srgbClr val="1F3864">
                  <a:alpha val="51764"/>
                </a:srgbClr>
              </a:gs>
            </a:gsLst>
            <a:lin ang="16799925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 flipH="1">
            <a:off x="0" y="0"/>
            <a:ext cx="12192000" cy="16002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Powershell Concepts</a:t>
            </a:r>
            <a:endParaRPr/>
          </a:p>
        </p:txBody>
      </p:sp>
      <p:grpSp>
        <p:nvGrpSpPr>
          <p:cNvPr id="189" name="Google Shape;189;p5"/>
          <p:cNvGrpSpPr/>
          <p:nvPr/>
        </p:nvGrpSpPr>
        <p:grpSpPr>
          <a:xfrm>
            <a:off x="647257" y="2558068"/>
            <a:ext cx="10921425" cy="3301825"/>
            <a:chOff x="3201" y="445489"/>
            <a:chExt cx="10921425" cy="3301825"/>
          </a:xfrm>
        </p:grpSpPr>
        <p:sp>
          <p:nvSpPr>
            <p:cNvPr id="190" name="Google Shape;190;p5"/>
            <p:cNvSpPr/>
            <p:nvPr/>
          </p:nvSpPr>
          <p:spPr>
            <a:xfrm>
              <a:off x="3201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5"/>
            <p:cNvSpPr txBox="1"/>
            <p:nvPr/>
          </p:nvSpPr>
          <p:spPr>
            <a:xfrm>
              <a:off x="3201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Commenting</a:t>
              </a:r>
              <a:endParaRPr/>
            </a:p>
          </p:txBody>
        </p:sp>
        <p:sp>
          <p:nvSpPr>
            <p:cNvPr id="192" name="Google Shape;192;p5"/>
            <p:cNvSpPr/>
            <p:nvPr/>
          </p:nvSpPr>
          <p:spPr>
            <a:xfrm>
              <a:off x="2797054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5"/>
            <p:cNvSpPr txBox="1"/>
            <p:nvPr/>
          </p:nvSpPr>
          <p:spPr>
            <a:xfrm>
              <a:off x="2797054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Variables</a:t>
              </a:r>
              <a:endParaRPr/>
            </a:p>
          </p:txBody>
        </p:sp>
        <p:sp>
          <p:nvSpPr>
            <p:cNvPr id="194" name="Google Shape;194;p5"/>
            <p:cNvSpPr/>
            <p:nvPr/>
          </p:nvSpPr>
          <p:spPr>
            <a:xfrm>
              <a:off x="5590907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5"/>
            <p:cNvSpPr txBox="1"/>
            <p:nvPr/>
          </p:nvSpPr>
          <p:spPr>
            <a:xfrm>
              <a:off x="5590907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Modules</a:t>
              </a:r>
              <a:endParaRPr sz="3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" name="Google Shape;196;p5"/>
            <p:cNvSpPr/>
            <p:nvPr/>
          </p:nvSpPr>
          <p:spPr>
            <a:xfrm>
              <a:off x="8384760" y="445489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5"/>
            <p:cNvSpPr txBox="1"/>
            <p:nvPr/>
          </p:nvSpPr>
          <p:spPr>
            <a:xfrm>
              <a:off x="8384760" y="445489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Parameters</a:t>
              </a:r>
              <a:endParaRPr/>
            </a:p>
          </p:txBody>
        </p:sp>
        <p:sp>
          <p:nvSpPr>
            <p:cNvPr id="198" name="Google Shape;198;p5"/>
            <p:cNvSpPr/>
            <p:nvPr/>
          </p:nvSpPr>
          <p:spPr>
            <a:xfrm>
              <a:off x="3201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5"/>
            <p:cNvSpPr txBox="1"/>
            <p:nvPr/>
          </p:nvSpPr>
          <p:spPr>
            <a:xfrm>
              <a:off x="3201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Pipelines</a:t>
              </a:r>
              <a:endParaRPr/>
            </a:p>
          </p:txBody>
        </p:sp>
        <p:sp>
          <p:nvSpPr>
            <p:cNvPr id="200" name="Google Shape;200;p5"/>
            <p:cNvSpPr/>
            <p:nvPr/>
          </p:nvSpPr>
          <p:spPr>
            <a:xfrm>
              <a:off x="2797054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5"/>
            <p:cNvSpPr txBox="1"/>
            <p:nvPr/>
          </p:nvSpPr>
          <p:spPr>
            <a:xfrm>
              <a:off x="2797054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Limiting </a:t>
              </a:r>
              <a:r>
                <a:rPr lang="en-US" sz="3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Output</a:t>
              </a:r>
              <a:endParaRPr/>
            </a:p>
          </p:txBody>
        </p:sp>
        <p:sp>
          <p:nvSpPr>
            <p:cNvPr id="202" name="Google Shape;202;p5"/>
            <p:cNvSpPr/>
            <p:nvPr/>
          </p:nvSpPr>
          <p:spPr>
            <a:xfrm>
              <a:off x="5590907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5"/>
            <p:cNvSpPr txBox="1"/>
            <p:nvPr/>
          </p:nvSpPr>
          <p:spPr>
            <a:xfrm>
              <a:off x="5590907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 b="0" i="0" u="none" strike="noStrike" cap="non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Formatting Output</a:t>
              </a:r>
              <a:endParaRPr/>
            </a:p>
          </p:txBody>
        </p:sp>
        <p:sp>
          <p:nvSpPr>
            <p:cNvPr id="204" name="Google Shape;204;p5"/>
            <p:cNvSpPr/>
            <p:nvPr/>
          </p:nvSpPr>
          <p:spPr>
            <a:xfrm>
              <a:off x="8384760" y="2223395"/>
              <a:ext cx="2539866" cy="1523919"/>
            </a:xfrm>
            <a:prstGeom prst="rect">
              <a:avLst/>
            </a:prstGeom>
            <a:solidFill>
              <a:schemeClr val="dk2"/>
            </a:solidFill>
            <a:ln w="12700" cap="flat" cmpd="sng">
              <a:solidFill>
                <a:schemeClr val="l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5"/>
            <p:cNvSpPr txBox="1"/>
            <p:nvPr/>
          </p:nvSpPr>
          <p:spPr>
            <a:xfrm>
              <a:off x="8384760" y="2223395"/>
              <a:ext cx="2539866" cy="15239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29525" tIns="129525" rIns="129525" bIns="129525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3400"/>
                <a:buFont typeface="Calibri"/>
                <a:buNone/>
              </a:pPr>
              <a:r>
                <a:rPr lang="en-US" sz="34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Looping</a:t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"/>
          <p:cNvSpPr/>
          <p:nvPr/>
        </p:nvSpPr>
        <p:spPr>
          <a:xfrm>
            <a:off x="11975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 flipH="1">
            <a:off x="0" y="-212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Commenting</a:t>
            </a:r>
            <a:endParaRPr/>
          </a:p>
        </p:txBody>
      </p:sp>
      <p:grpSp>
        <p:nvGrpSpPr>
          <p:cNvPr id="214" name="Google Shape;214;p8"/>
          <p:cNvGrpSpPr/>
          <p:nvPr/>
        </p:nvGrpSpPr>
        <p:grpSpPr>
          <a:xfrm>
            <a:off x="2192970" y="2408981"/>
            <a:ext cx="7830000" cy="3600000"/>
            <a:chOff x="1548914" y="296402"/>
            <a:chExt cx="7830000" cy="3600000"/>
          </a:xfrm>
        </p:grpSpPr>
        <p:sp>
          <p:nvSpPr>
            <p:cNvPr id="215" name="Google Shape;215;p8"/>
            <p:cNvSpPr/>
            <p:nvPr/>
          </p:nvSpPr>
          <p:spPr>
            <a:xfrm>
              <a:off x="2250914" y="296402"/>
              <a:ext cx="2196000" cy="219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8"/>
            <p:cNvSpPr/>
            <p:nvPr/>
          </p:nvSpPr>
          <p:spPr>
            <a:xfrm>
              <a:off x="2718914" y="764402"/>
              <a:ext cx="1260000" cy="1260000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8"/>
            <p:cNvSpPr/>
            <p:nvPr/>
          </p:nvSpPr>
          <p:spPr>
            <a:xfrm>
              <a:off x="154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8"/>
            <p:cNvSpPr txBox="1"/>
            <p:nvPr/>
          </p:nvSpPr>
          <p:spPr>
            <a:xfrm>
              <a:off x="154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700"/>
                <a:buFont typeface="Calibri"/>
                <a:buNone/>
              </a:pPr>
              <a:r>
                <a:rPr lang="en-US" sz="2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SINGLE LINE COMMENTS</a:t>
              </a:r>
              <a:endParaRPr/>
            </a:p>
          </p:txBody>
        </p:sp>
        <p:sp>
          <p:nvSpPr>
            <p:cNvPr id="219" name="Google Shape;219;p8"/>
            <p:cNvSpPr/>
            <p:nvPr/>
          </p:nvSpPr>
          <p:spPr>
            <a:xfrm>
              <a:off x="6480914" y="296402"/>
              <a:ext cx="2196000" cy="219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8"/>
            <p:cNvSpPr/>
            <p:nvPr/>
          </p:nvSpPr>
          <p:spPr>
            <a:xfrm>
              <a:off x="6948914" y="764402"/>
              <a:ext cx="1260000" cy="1260000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8"/>
            <p:cNvSpPr/>
            <p:nvPr/>
          </p:nvSpPr>
          <p:spPr>
            <a:xfrm>
              <a:off x="577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8"/>
            <p:cNvSpPr txBox="1"/>
            <p:nvPr/>
          </p:nvSpPr>
          <p:spPr>
            <a:xfrm>
              <a:off x="5778914" y="3176402"/>
              <a:ext cx="360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700"/>
                <a:buFont typeface="Calibri"/>
                <a:buNone/>
              </a:pPr>
              <a:r>
                <a:rPr lang="en-US" sz="27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MULTI-LINE COMMENTS</a:t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 rot="10800000">
            <a:off x="0" y="0"/>
            <a:ext cx="12192000" cy="1575900"/>
          </a:xfrm>
          <a:prstGeom prst="rect">
            <a:avLst/>
          </a:prstGeom>
          <a:gradFill>
            <a:gsLst>
              <a:gs pos="0">
                <a:srgbClr val="000000">
                  <a:alpha val="95686"/>
                </a:srgbClr>
              </a:gs>
              <a:gs pos="100000">
                <a:srgbClr val="2F5496"/>
              </a:gs>
            </a:gsLst>
            <a:lin ang="839841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9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1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- Commenting</a:t>
            </a:r>
            <a:endParaRPr/>
          </a:p>
        </p:txBody>
      </p:sp>
      <p:pic>
        <p:nvPicPr>
          <p:cNvPr id="231" name="Google Shape;231;p9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9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Comment Types: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Single 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Multi-Line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Code Regions</a:t>
            </a:r>
            <a:endParaRPr/>
          </a:p>
          <a:p>
            <a:pPr marL="4572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/>
          </a:p>
        </p:txBody>
      </p:sp>
      <p:sp>
        <p:nvSpPr>
          <p:cNvPr id="241" name="Google Shape;241;p10"/>
          <p:cNvSpPr txBox="1">
            <a:spLocks noGrp="1"/>
          </p:cNvSpPr>
          <p:nvPr>
            <p:ph type="body" idx="2"/>
          </p:nvPr>
        </p:nvSpPr>
        <p:spPr>
          <a:xfrm>
            <a:off x="1166297" y="2112579"/>
            <a:ext cx="4872919" cy="408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12598" lvl="0" indent="-212343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start with a $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Names are not case sensitive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contain numbers and letters</a:t>
            </a:r>
            <a:endParaRPr sz="2600" dirty="0"/>
          </a:p>
          <a:p>
            <a:pPr marL="212598" lvl="0" indent="-212343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Variables have multiple scopes: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Global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Local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Script</a:t>
            </a:r>
            <a:endParaRPr sz="2600" dirty="0"/>
          </a:p>
          <a:p>
            <a:pPr marL="669798" lvl="1" indent="-225298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Private (not really a scope)</a:t>
            </a:r>
            <a:endParaRPr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1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5156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2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Variables</a:t>
            </a:r>
            <a:endParaRPr/>
          </a:p>
        </p:txBody>
      </p:sp>
      <p:pic>
        <p:nvPicPr>
          <p:cNvPr id="250" name="Google Shape;250;p11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Variable Types: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Untyped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Typed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Custom Objects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Arrays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Hashtables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6"/>
          <p:cNvSpPr/>
          <p:nvPr/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6"/>
          <p:cNvSpPr/>
          <p:nvPr/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001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6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6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Modules</a:t>
            </a:r>
            <a:endParaRPr/>
          </a:p>
        </p:txBody>
      </p:sp>
      <p:sp>
        <p:nvSpPr>
          <p:cNvPr id="262" name="Google Shape;262;p6"/>
          <p:cNvSpPr txBox="1">
            <a:spLocks noGrp="1"/>
          </p:cNvSpPr>
          <p:nvPr>
            <p:ph type="body" idx="1"/>
          </p:nvPr>
        </p:nvSpPr>
        <p:spPr>
          <a:xfrm>
            <a:off x="459350" y="1834125"/>
            <a:ext cx="8900700" cy="47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228600" lvl="0" indent="-266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Modules are a package that contain PowerShell objects like cmdlets, functions, and variables</a:t>
            </a:r>
            <a:endParaRPr sz="2600"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Best place to get modules is the PowerShell Gallery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269</a:t>
            </a:r>
            <a:r>
              <a:rPr lang="en-US" sz="2600" dirty="0"/>
              <a:t> </a:t>
            </a:r>
            <a:r>
              <a:rPr lang="en-US" sz="2600" strike="sngStrike" dirty="0"/>
              <a:t>537</a:t>
            </a:r>
            <a:r>
              <a:rPr lang="en-US" sz="2600" dirty="0"/>
              <a:t> 610 thousand total packages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11</a:t>
            </a:r>
            <a:r>
              <a:rPr lang="en-US" sz="2600" dirty="0"/>
              <a:t> </a:t>
            </a:r>
            <a:r>
              <a:rPr lang="en-US" sz="2600" strike="sngStrike" dirty="0"/>
              <a:t>12</a:t>
            </a:r>
            <a:r>
              <a:rPr lang="en-US" sz="2600" dirty="0"/>
              <a:t> </a:t>
            </a:r>
            <a:r>
              <a:rPr lang="en-US" sz="2600" strike="sngStrike" dirty="0"/>
              <a:t>14</a:t>
            </a:r>
            <a:r>
              <a:rPr lang="en-US" sz="2600" dirty="0"/>
              <a:t> 15 thousand unique packages</a:t>
            </a:r>
            <a:endParaRPr sz="2600" dirty="0"/>
          </a:p>
          <a:p>
            <a:pPr marL="685800" lvl="1" indent="-2921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Over </a:t>
            </a:r>
            <a:r>
              <a:rPr lang="en-US" sz="2600" strike="sngStrike" dirty="0"/>
              <a:t>8</a:t>
            </a:r>
            <a:r>
              <a:rPr lang="en-US" sz="2600" dirty="0"/>
              <a:t> </a:t>
            </a:r>
            <a:r>
              <a:rPr lang="en-US" sz="2600" strike="sngStrike" dirty="0"/>
              <a:t>9</a:t>
            </a:r>
            <a:r>
              <a:rPr lang="en-US" sz="2600" dirty="0"/>
              <a:t> </a:t>
            </a:r>
            <a:r>
              <a:rPr lang="en-US" sz="2600" strike="sngStrike" dirty="0"/>
              <a:t>10</a:t>
            </a:r>
            <a:r>
              <a:rPr lang="en-US" sz="2600" dirty="0"/>
              <a:t> </a:t>
            </a:r>
            <a:r>
              <a:rPr lang="en-US" sz="2600" strike="sngStrike" dirty="0"/>
              <a:t>27</a:t>
            </a:r>
            <a:r>
              <a:rPr lang="en-US" sz="2600" dirty="0"/>
              <a:t> 31 billion packages downloaded</a:t>
            </a:r>
            <a:endParaRPr sz="2600"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 dirty="0"/>
          </a:p>
          <a:p>
            <a:pPr marL="228600" lvl="0" indent="-2667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</a:pPr>
            <a:r>
              <a:rPr lang="en-US" sz="2600" dirty="0"/>
              <a:t>Other Modules are available as components of windows</a:t>
            </a:r>
            <a:br>
              <a:rPr lang="en-US" sz="2600" dirty="0"/>
            </a:br>
            <a:r>
              <a:rPr lang="en-US" sz="2600" dirty="0"/>
              <a:t>ex: </a:t>
            </a:r>
            <a:r>
              <a:rPr lang="en-US" sz="2600" dirty="0" err="1"/>
              <a:t>ActiveDirectory</a:t>
            </a:r>
            <a:r>
              <a:rPr lang="en-US" sz="2600" dirty="0"/>
              <a:t> </a:t>
            </a:r>
            <a:endParaRPr sz="2600" dirty="0"/>
          </a:p>
        </p:txBody>
      </p:sp>
      <p:pic>
        <p:nvPicPr>
          <p:cNvPr id="263" name="Google Shape;26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17050" y="2058205"/>
            <a:ext cx="2400300" cy="3943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7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7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7063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3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– Modules</a:t>
            </a:r>
            <a:endParaRPr/>
          </a:p>
        </p:txBody>
      </p:sp>
      <p:pic>
        <p:nvPicPr>
          <p:cNvPr id="273" name="Google Shape;273;p7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713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7"/>
          <p:cNvSpPr txBox="1"/>
          <p:nvPr/>
        </p:nvSpPr>
        <p:spPr>
          <a:xfrm>
            <a:off x="5920825" y="1814175"/>
            <a:ext cx="4872900" cy="43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None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Commands: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Install-Module</a:t>
            </a:r>
            <a:endParaRPr/>
          </a:p>
          <a:p>
            <a:pPr marL="685800" marR="0" lvl="1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204"/>
              <a:buFont typeface="Arial"/>
              <a:buChar char="•"/>
            </a:pPr>
            <a:r>
              <a:rPr lang="en-US" sz="22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Uninstall-Module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Import-Module</a:t>
            </a:r>
            <a:endParaRPr/>
          </a:p>
          <a:p>
            <a:pPr marL="685800" marR="0" lvl="1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204"/>
              <a:buFont typeface="Arial"/>
              <a:buChar char="•"/>
            </a:pPr>
            <a:r>
              <a:rPr lang="en-US" sz="22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Remove-Module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Update-Module</a:t>
            </a:r>
            <a:endParaRPr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Get-Module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marR="0" lvl="1" indent="-393954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2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Get-InstalledModule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Get-Command</a:t>
            </a:r>
            <a:endParaRPr sz="260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Get-Help</a:t>
            </a:r>
            <a:endParaRPr sz="2604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7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7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7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Parameters</a:t>
            </a:r>
            <a:endParaRPr/>
          </a:p>
        </p:txBody>
      </p:sp>
      <p:sp>
        <p:nvSpPr>
          <p:cNvPr id="284" name="Google Shape;284;p17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There are multiple ways to pass parameters to a cmdlet or function: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By name 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By position</a:t>
            </a:r>
            <a:endParaRPr sz="2600"/>
          </a:p>
          <a:p>
            <a:pPr marL="457200" lvl="0" indent="-3937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Passing them at runtime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Splatting</a:t>
            </a: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/>
              <a:t>Parameters can be Mandatory or Optional.</a:t>
            </a:r>
            <a:endParaRPr sz="2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4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4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-US" sz="4000">
                <a:solidFill>
                  <a:srgbClr val="FFFFFF"/>
                </a:solidFill>
              </a:rPr>
              <a:t>Parameters</a:t>
            </a:r>
            <a:endParaRPr/>
          </a:p>
        </p:txBody>
      </p:sp>
      <p:pic>
        <p:nvPicPr>
          <p:cNvPr id="293" name="Google Shape;293;p14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1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Common Parameters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WhatIf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Confirm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-US"/>
              <a:t>Verbose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Splatting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2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2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2"/>
          <p:cNvSpPr/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pipeline is a series of commands connected by the “|” symbol.</a:t>
            </a:r>
            <a:b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the pipeline, the output of the first command is passed on to the second command.</a:t>
            </a:r>
            <a:b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but not all PowerShell and dbatools commands accept pipeline input</a:t>
            </a:r>
            <a:endParaRPr sz="2600" dirty="0"/>
          </a:p>
        </p:txBody>
      </p:sp>
      <p:sp>
        <p:nvSpPr>
          <p:cNvPr id="303" name="Google Shape;303;p12"/>
          <p:cNvSpPr txBox="1">
            <a:spLocks noGrp="1"/>
          </p:cNvSpPr>
          <p:nvPr>
            <p:ph type="title"/>
          </p:nvPr>
        </p:nvSpPr>
        <p:spPr>
          <a:xfrm>
            <a:off x="1371597" y="348865"/>
            <a:ext cx="100440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</a:t>
            </a:r>
            <a:r>
              <a:rPr lang="en-US" sz="4000">
                <a:solidFill>
                  <a:srgbClr val="FFFFFF"/>
                </a:solidFill>
              </a:rPr>
              <a:t>5 </a:t>
            </a: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- Pipelining</a:t>
            </a:r>
            <a:endParaRPr/>
          </a:p>
        </p:txBody>
      </p:sp>
      <p:pic>
        <p:nvPicPr>
          <p:cNvPr id="312" name="Google Shape;312;p13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Pipeline examples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12d64ab2ef_1_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g212d64ab2ef_1_4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g212d64ab2ef_1_4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212d64ab2ef_1_45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Filtering Output</a:t>
            </a:r>
            <a:endParaRPr/>
          </a:p>
        </p:txBody>
      </p:sp>
      <p:sp>
        <p:nvSpPr>
          <p:cNvPr id="323" name="Google Shape;323;g212d64ab2ef_1_45"/>
          <p:cNvSpPr txBox="1">
            <a:spLocks noGrp="1"/>
          </p:cNvSpPr>
          <p:nvPr>
            <p:ph type="body" idx="1"/>
          </p:nvPr>
        </p:nvSpPr>
        <p:spPr>
          <a:xfrm>
            <a:off x="841248" y="1828800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Just like with T-SQL you can limit the output from a function.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You can limit the number of objects returned with the Where-Object function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You can limit the number of properties returned with the Select-Object</a:t>
            </a:r>
            <a:endParaRPr sz="26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5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5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5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- Filtering Output</a:t>
            </a:r>
            <a:endParaRPr/>
          </a:p>
        </p:txBody>
      </p:sp>
      <p:pic>
        <p:nvPicPr>
          <p:cNvPr id="332" name="Google Shape;332;p15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1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2600"/>
              <a:t>Ways to filter output:</a:t>
            </a:r>
            <a:endParaRPr sz="2600"/>
          </a:p>
          <a:p>
            <a:pPr marL="457200" lvl="0" indent="-393700" algn="l" rtl="0">
              <a:spcBef>
                <a:spcPts val="100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Where-Object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Select-Object</a:t>
            </a:r>
            <a:endParaRPr sz="2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12d64ab2ef_1_3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g212d64ab2ef_1_34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g212d64ab2ef_1_34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g212d64ab2ef_1_34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Formatting Output</a:t>
            </a:r>
            <a:endParaRPr/>
          </a:p>
        </p:txBody>
      </p:sp>
      <p:sp>
        <p:nvSpPr>
          <p:cNvPr id="343" name="Google Shape;343;g212d64ab2ef_1_34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600"/>
              <a:t>Multiple ways to format the output from a function</a:t>
            </a:r>
            <a:endParaRPr sz="260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600"/>
          </a:p>
          <a:p>
            <a:pPr marL="457200" lvl="0" indent="-393700" algn="l" rtl="0">
              <a:spcBef>
                <a:spcPts val="100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Format-List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Format-Table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Out-Gridview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Write-Out</a:t>
            </a:r>
            <a:endParaRPr sz="2600"/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-US" sz="2600"/>
              <a:t>Write-Verbose</a:t>
            </a:r>
            <a:endParaRPr sz="26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6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6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6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100401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- Formatting Output</a:t>
            </a:r>
            <a:endParaRPr/>
          </a:p>
        </p:txBody>
      </p:sp>
      <p:pic>
        <p:nvPicPr>
          <p:cNvPr id="352" name="Google Shape;352;p16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088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/>
              <a:t>Ways to format the object: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Sort-Object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Format-List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Format-Table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Out-Gridview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Write-Out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Write-Verbose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212d64ab2ef_1_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g212d64ab2ef_1_23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g212d64ab2ef_1_23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g212d64ab2ef_1_23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6100" cy="10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Looping</a:t>
            </a:r>
            <a:endParaRPr/>
          </a:p>
        </p:txBody>
      </p:sp>
      <p:sp>
        <p:nvSpPr>
          <p:cNvPr id="363" name="Google Shape;363;g212d64ab2ef_1_23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3900" cy="3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Just like most programming languages, you can write loops in PowerShell.</a:t>
            </a: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There’s 4 basic types of loops 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 - for looping with a built-in counter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Foreach (x in y) - for looping through a collection or array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Do &amp; While - Repeats until a condition is true.</a:t>
            </a: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endParaRPr sz="2000" dirty="0"/>
          </a:p>
          <a:p>
            <a:pPr marL="228600" lvl="0" indent="-101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2000" dirty="0"/>
              <a:t>And </a:t>
            </a:r>
            <a:r>
              <a:rPr lang="en-US" sz="2000" dirty="0" err="1"/>
              <a:t>and</a:t>
            </a:r>
            <a:r>
              <a:rPr lang="en-US" sz="2000" dirty="0"/>
              <a:t> one that you can use with pipelines:</a:t>
            </a:r>
            <a:endParaRPr sz="2000" dirty="0"/>
          </a:p>
          <a:p>
            <a:pPr marL="457200" lvl="0" indent="-355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 dirty="0"/>
              <a:t>Foreach-Object</a:t>
            </a:r>
            <a:endParaRPr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8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8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8"/>
          <p:cNvSpPr txBox="1">
            <a:spLocks noGrp="1"/>
          </p:cNvSpPr>
          <p:nvPr>
            <p:ph type="title"/>
          </p:nvPr>
        </p:nvSpPr>
        <p:spPr>
          <a:xfrm>
            <a:off x="1371600" y="347472"/>
            <a:ext cx="7063800" cy="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Demo – </a:t>
            </a:r>
            <a:r>
              <a:rPr lang="en-US" sz="4000">
                <a:solidFill>
                  <a:srgbClr val="FFFFFF"/>
                </a:solidFill>
              </a:rPr>
              <a:t>Loops</a:t>
            </a:r>
            <a:endParaRPr/>
          </a:p>
        </p:txBody>
      </p:sp>
      <p:pic>
        <p:nvPicPr>
          <p:cNvPr id="373" name="Google Shape;373;p18" descr="Monito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9713" y="1966293"/>
            <a:ext cx="4452160" cy="445216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8"/>
          <p:cNvSpPr txBox="1"/>
          <p:nvPr/>
        </p:nvSpPr>
        <p:spPr>
          <a:xfrm>
            <a:off x="5920820" y="2112579"/>
            <a:ext cx="4872919" cy="4305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None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Looping methods</a:t>
            </a:r>
            <a:r>
              <a:rPr lang="en-US" sz="2604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dirty="0"/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Arial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Foreach (x in y)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Foreach-Object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Do/While or Do/Until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286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Clr>
                <a:schemeClr val="dk1"/>
              </a:buClr>
              <a:buSzPts val="2604"/>
              <a:buFont typeface="Calibri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While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None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Loop Control:</a:t>
            </a:r>
          </a:p>
          <a:p>
            <a:pPr marL="457200" marR="0" lvl="0" indent="-4572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Break</a:t>
            </a:r>
          </a:p>
          <a:p>
            <a:pPr marL="457200" marR="0" lvl="0" indent="-457200" algn="l" rtl="0">
              <a:lnSpc>
                <a:spcPct val="90000"/>
              </a:lnSpc>
              <a:spcBef>
                <a:spcPts val="93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604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</a:t>
            </a:r>
            <a:endParaRPr sz="2604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>
                <a:solidFill>
                  <a:srgbClr val="FFFFFF"/>
                </a:solidFill>
              </a:rPr>
              <a:t>Resources</a:t>
            </a:r>
            <a:endParaRPr/>
          </a:p>
        </p:txBody>
      </p:sp>
      <p:sp>
        <p:nvSpPr>
          <p:cNvPr id="384" name="Google Shape;384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u="sng" dirty="0" err="1">
                <a:latin typeface="Arial"/>
                <a:ea typeface="Arial"/>
                <a:cs typeface="Arial"/>
                <a:sym typeface="Arial"/>
              </a:rPr>
              <a:t>Powershell</a:t>
            </a:r>
            <a:r>
              <a:rPr lang="en-US" sz="2000" u="sng" dirty="0">
                <a:latin typeface="Arial"/>
                <a:ea typeface="Arial"/>
                <a:cs typeface="Arial"/>
                <a:sym typeface="Arial"/>
              </a:rPr>
              <a:t> Gallery</a:t>
            </a:r>
            <a:br>
              <a:rPr lang="en-US" sz="2000" u="sng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https://www.powershellgallery.com/</a:t>
            </a:r>
            <a:br>
              <a:rPr lang="en-US" sz="2000" u="sng" dirty="0">
                <a:latin typeface="Arial"/>
                <a:ea typeface="Arial"/>
                <a:cs typeface="Arial"/>
                <a:sym typeface="Arial"/>
              </a:rPr>
            </a:br>
            <a:endParaRPr sz="2000" u="sng" dirty="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  <a:t>Microsoft </a:t>
            </a:r>
            <a:r>
              <a:rPr lang="en-US" sz="2000" b="0" i="0" u="sng" strike="noStrike" dirty="0" err="1">
                <a:latin typeface="Arial"/>
                <a:ea typeface="Arial"/>
                <a:cs typeface="Arial"/>
                <a:sym typeface="Arial"/>
              </a:rPr>
              <a:t>Powershell</a:t>
            </a:r>
            <a: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  <a:t> Documentation</a:t>
            </a:r>
            <a:b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b="0" i="0" u="sng" strike="noStrike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https://learn.microsoft.com/en-us/powershell/scripting/learn/ps101/00-introduction</a:t>
            </a:r>
            <a:br>
              <a:rPr lang="en-US" sz="2000" b="0" i="0" u="sng" strike="noStrike" dirty="0">
                <a:latin typeface="Arial"/>
                <a:ea typeface="Arial"/>
                <a:cs typeface="Arial"/>
                <a:sym typeface="Arial"/>
              </a:rPr>
            </a:br>
            <a:endParaRPr sz="2000" b="0" i="0" u="sng" strike="noStrike" dirty="0"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dbatools </a:t>
            </a:r>
            <a:br>
              <a:rPr lang="en-US" sz="2000" dirty="0">
                <a:latin typeface="Arial"/>
                <a:ea typeface="Arial"/>
                <a:cs typeface="Arial"/>
                <a:sym typeface="Arial"/>
              </a:rPr>
            </a:br>
            <a:r>
              <a:rPr lang="en-US" sz="2000" u="sng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https://dbatools.io/</a:t>
            </a:r>
            <a:endParaRPr sz="2000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1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9"/>
          <p:cNvSpPr/>
          <p:nvPr/>
        </p:nvSpPr>
        <p:spPr>
          <a:xfrm flipH="1">
            <a:off x="-3" y="-1"/>
            <a:ext cx="12192000" cy="15906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rgbClr val="2F5496"/>
              </a:gs>
            </a:gsLst>
            <a:lin ang="8400134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9"/>
          <p:cNvSpPr/>
          <p:nvPr/>
        </p:nvSpPr>
        <p:spPr>
          <a:xfrm rot="10800000" flipH="1">
            <a:off x="-3" y="142"/>
            <a:ext cx="8115300" cy="1590600"/>
          </a:xfrm>
          <a:prstGeom prst="rect">
            <a:avLst/>
          </a:prstGeom>
          <a:gradFill>
            <a:gsLst>
              <a:gs pos="0">
                <a:srgbClr val="4472C4">
                  <a:alpha val="0"/>
                </a:srgbClr>
              </a:gs>
              <a:gs pos="20000">
                <a:srgbClr val="4472C4">
                  <a:alpha val="0"/>
                </a:srgbClr>
              </a:gs>
              <a:gs pos="100000">
                <a:srgbClr val="1F3864">
                  <a:alpha val="54901"/>
                </a:srgbClr>
              </a:gs>
            </a:gsLst>
            <a:lin ang="13800146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9"/>
          <p:cNvSpPr txBox="1"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 dirty="0">
                <a:solidFill>
                  <a:srgbClr val="FFFFFF"/>
                </a:solidFill>
              </a:rPr>
              <a:t>Thank You</a:t>
            </a:r>
            <a:endParaRPr dirty="0"/>
          </a:p>
        </p:txBody>
      </p:sp>
      <p:sp>
        <p:nvSpPr>
          <p:cNvPr id="384" name="Google Shape;384;p19"/>
          <p:cNvSpPr txBox="1">
            <a:spLocks noGrp="1"/>
          </p:cNvSpPr>
          <p:nvPr>
            <p:ph type="body" idx="1"/>
          </p:nvPr>
        </p:nvSpPr>
        <p:spPr>
          <a:xfrm>
            <a:off x="1371599" y="2318197"/>
            <a:ext cx="9724031" cy="3683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 sz="4000" dirty="0">
                <a:latin typeface="Arial"/>
                <a:ea typeface="Arial"/>
                <a:cs typeface="Arial"/>
                <a:sym typeface="Arial"/>
              </a:rPr>
              <a:t>Questions ?</a:t>
            </a:r>
            <a:endParaRPr sz="40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40594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774</Words>
  <Application>Microsoft Office PowerPoint</Application>
  <PresentationFormat>Widescreen</PresentationFormat>
  <Paragraphs>177</Paragraphs>
  <Slides>25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Calibri</vt:lpstr>
      <vt:lpstr>Arial</vt:lpstr>
      <vt:lpstr>Roboto</vt:lpstr>
      <vt:lpstr>Office Theme</vt:lpstr>
      <vt:lpstr>Intro to PowerShell  with dbatools  for the DBA</vt:lpstr>
      <vt:lpstr>PowerPoint Presentation</vt:lpstr>
      <vt:lpstr>Tony Wilhelm</vt:lpstr>
      <vt:lpstr>“Everyone has too much to do today, and you can never reuse a click” </vt:lpstr>
      <vt:lpstr>History of Powershell</vt:lpstr>
      <vt:lpstr>History of dbatools</vt:lpstr>
      <vt:lpstr>Powershell Concepts</vt:lpstr>
      <vt:lpstr>Commenting</vt:lpstr>
      <vt:lpstr>Demo 1 - Commenting</vt:lpstr>
      <vt:lpstr>Variables</vt:lpstr>
      <vt:lpstr>Demo 2 - Variables</vt:lpstr>
      <vt:lpstr>Modules</vt:lpstr>
      <vt:lpstr>Demo 3 – Modules</vt:lpstr>
      <vt:lpstr>Parameters</vt:lpstr>
      <vt:lpstr>Demo 4 - Parameters</vt:lpstr>
      <vt:lpstr>Pipeline</vt:lpstr>
      <vt:lpstr>Demo 5 - Pipelining</vt:lpstr>
      <vt:lpstr>Filtering Output</vt:lpstr>
      <vt:lpstr>Demo - Filtering Output</vt:lpstr>
      <vt:lpstr>Formatting Output</vt:lpstr>
      <vt:lpstr>Demo - Formatting Output</vt:lpstr>
      <vt:lpstr>Looping</vt:lpstr>
      <vt:lpstr>Demo – Loops</vt:lpstr>
      <vt:lpstr>Resources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PowerShell  with dbatools  for the DBA</dc:title>
  <dc:creator>Anthony (Tony) Wilhelm</dc:creator>
  <cp:lastModifiedBy>Anthony (Tony) Wilhelm</cp:lastModifiedBy>
  <cp:revision>6</cp:revision>
  <dcterms:created xsi:type="dcterms:W3CDTF">2023-03-24T20:07:07Z</dcterms:created>
  <dcterms:modified xsi:type="dcterms:W3CDTF">2026-03-14T03:42:26Z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0ee06db-1980-431f-9f40-cfc6bed7e768_Enabled">
    <vt:lpwstr>true</vt:lpwstr>
  </property>
  <property fmtid="{D5CDD505-2E9C-101B-9397-08002B2CF9AE}" pid="3" name="MSIP_Label_e0ee06db-1980-431f-9f40-cfc6bed7e768_SetDate">
    <vt:lpwstr>2023-03-24T20:07:29Z</vt:lpwstr>
  </property>
  <property fmtid="{D5CDD505-2E9C-101B-9397-08002B2CF9AE}" pid="4" name="MSIP_Label_e0ee06db-1980-431f-9f40-cfc6bed7e768_Method">
    <vt:lpwstr>Standard</vt:lpwstr>
  </property>
  <property fmtid="{D5CDD505-2E9C-101B-9397-08002B2CF9AE}" pid="5" name="MSIP_Label_e0ee06db-1980-431f-9f40-cfc6bed7e768_Name">
    <vt:lpwstr>Public</vt:lpwstr>
  </property>
  <property fmtid="{D5CDD505-2E9C-101B-9397-08002B2CF9AE}" pid="6" name="MSIP_Label_e0ee06db-1980-431f-9f40-cfc6bed7e768_SiteId">
    <vt:lpwstr>e75b8cf2-b242-41b0-8378-a3862dd6f0f4</vt:lpwstr>
  </property>
  <property fmtid="{D5CDD505-2E9C-101B-9397-08002B2CF9AE}" pid="7" name="MSIP_Label_e0ee06db-1980-431f-9f40-cfc6bed7e768_ActionId">
    <vt:lpwstr>bc49ab0c-0b9a-426e-95a6-77a04dcfa7bc</vt:lpwstr>
  </property>
  <property fmtid="{D5CDD505-2E9C-101B-9397-08002B2CF9AE}" pid="8" name="MSIP_Label_e0ee06db-1980-431f-9f40-cfc6bed7e768_ContentBits">
    <vt:lpwstr>0</vt:lpwstr>
  </property>
</Properties>
</file>